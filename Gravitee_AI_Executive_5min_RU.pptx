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35 секунд.
Предлагается рассмотреть AI-возможности Gravitee как развитие подхода, который уже применяется к корпоративным API: централизованно управлять доступом, правилами обработки и наблюдаемостью. Предмет обсуждения — не новая языковая модель и не конструктор, который сам создаёт агентов. Речь об инфраструктуре между AI-клиентами, моделями и корпоративными инструментами. В исходном каталоге есть как возможности AI Gateway, так и функции Agent Management в Gamma и интеграции с другими модулями. Поэтому мы предлагаем сначала ограниченный пилот. Он позволит проверить пользу на выбранных сценариях, техническую совместимость и состав лицензии, а уже затем принимать решение о масштабировании.
ГРАНИЦЫ И ПОДСКАЗКИ ВЫСТУПАЮЩЕМУ
Разграничивать APIM и Gamma: номер 4.12 не доказывает, что все интерфейсы Catalog и Studio появятся в существующей Console после замены образа Gateway. Не называть срок окупаемости или процент экономии: расчёта по компании нет.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S01. Agent Management: обзор
https://documentation.gravitee.io/agent-management
S24. Gamma Release Notes
https://documentation.gravitee.io/platform-management/gamma-release-notes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50 секунд.
В платформе выделены три типа прокси. LLM Proxy отвечает за вызовы языковых моделей. MCP Proxy управляет доступом агента к инструментам и контексту; в режиме Studio можно собрать собственный набор из нескольких источников. A2A Proxy нужен, когда один самостоятельный агент обращается к другому. Во всех случаях Gravitee находится на пути вызова и применяет настроенные правила. Это позволяет переносить общие требования из отдельных AI-приложений в платформенный слой. Важно не путать направления: MCP даёт агенту инструмент, а A2A позволяет поручить задачу другому агенту. Gateway не заменяет модель, бизнес-сервис или программный код самого агента.
ГРАНИЦЫ И ПОДСКАЗКИ ВЫСТУПАЮЩЕМУ
Контроль применяется к трафику, направленному через соответствующий прокси. Обход Gateway не становится видимым автоматически. Для устройств сотрудников в каталоге предусмотрен отдельный Edge Management.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S01. Agent Management: обзор
https://documentation.gravitee.io/agent-management
S02. Создание LLM Proxy
https://documentation.gravitee.io/agent-management/build/llm-proxies/create-an-llm-proxy
S05. MCP Studio
https://documentation.gravitee.io/agent-management/build/mcp-proxies/create-an-mcp-studio
S14. A2A Proxy
https://documentation.gravitee.io/agent-management/build/a2a-proxies/expose-agent-with-a2a-proxy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55 секунд.
Для первого пилота предлагаются два понятных сценария. Первый — управляемый доступ к моделям для одной команды. Потребитель обращается к LLM Proxy, а платформа хранит настройки провайдеров и применяет выбранные ограничения. Второй — предоставить агенту несколько существующих корпоративных API как инструменты MCP, не переписывая сами бизнес-сервисы в MCP-серверы. Например, агент может получить статус заявки и прочитать справочную информацию. Catalog хранит сущности, а Studio собирает из них ограниченный набор. Экономический смысл — повторно использовать уже имеющиеся API и общий платформенный контроль. Насколько это действительно сокращает интеграционные трудозатраты у нас, предстоит измерить, а не обещать заранее.
ГРАНИЦЫ И ПОДСКАЗКИ ВЫСТУПАЮЩЕМУ
Предлагается начать с операций чтения и тестовых или обезличенных данных. Совместимость существующих API definitions и схем OpenAPI с выбранным способом API Tools проверить до пилота. Все API автоматически не конвертировать.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S02. Создание LLM Proxy
https://documentation.gravitee.io/agent-management/build/llm-proxies/create-an-llm-proxy
S04. API Tools
https://documentation.gravitee.io/agent-management/import/create-api-tools
S05. MCP Studio
https://documentation.gravitee.io/agent-management/build/mcp-proxies/create-an-mcp-studio
S06. Catalog / Import
https://documentation.gravitee.io/agent-management/import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60 секунд.
Платформа предоставляет три группы прикладного контроля. Первая — содержимое: Guard Rails классифицирует промпты, а PII Filtering маскирует обнаруженные персональные данные. Это дополнительные средства защиты, а не гарантия, что ни одна утечка невозможна. Вторая группа — потребление: можно ограничивать токены и применять семантический кеш там, где повторное использование ответа допустимо. Кеш требует проверки актуальности и разделения данных пользователей. Третья — наблюдаемость: какие модели и инструменты вызваны, где ошибки и сколько токенов использовано. Стоимость рассчитывается из токенов и настроенных цен, а не берётся из счёта провайдера. На пилоте измеряем качество этих механизмов и только после этого оцениваем эффект.
ГРАНИЦЫ И ПОДСКАЗКИ ВЫСТУПАЮЩЕМУ
В ASYNC_MODE токенный лимит допускает превышение при всплесках. PII Filtering для streaming имеет ограничения: не обещать маскирование потокового ответа без проверки конкретного плагина. ONNX-модели требуют совместимого Gateway-образа и ресурсов.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S07. Prompt Guard Rails
https://github.com/gravitee-io/gravitee-platform-docs/blob/f495fabe734bf6a84427eb647ab0996624ef7369/docs/gamma/4.12/agent-management/build/configure-text-classification.md
S08. PII Filtering
https://documentation.gravitee.io/apim/create-and-configure-apis/apply-policies/policy-reference/pii-filtering
S09. Token Rate Limit
https://github.com/gravitee-io/gravitee-platform-docs/blob/f495fabe734bf6a84427eb647ab0996624ef7369/docs/gamma/4.12/agent-management/build/add-the-token-rate-limit-policy.md
S10. AI Semantic Caching
https://documentation.gravitee.io/apim/create-and-configure-apis/apply-policies/policy-reference/ai-semantic-caching
S11. LLM Dashboard
https://documentation.gravitee.io/agent-management/observe/dashboards/monitor-your-llm-proxy
S12. MCP monitoring
https://github.com/gravitee-io/gravitee-platform-docs/blob/f495fabe734bf6a84427eb647ab0996624ef7369/docs/gamma/4.12/agent-management/observe/monitor-your-mcp-servers.md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45 секунд.
Название Enterprise Edition само по себе не задаёт полный состав решения. Исходный отчёт включает возможности Agent Management в Gamma и несколько интеграций. Agent Identity использует Access Management, детальные права FGA — Authorization Management, видимость AI-трафика на устройствах — Edge Management. Для Kafka Tools нужен Event Stream Management. Отдельно подтверждаются AI policy packs. Также фиксируем конкретный patch и версии плагинов: документация ветки обновляется, и отдельные интерфейсы появились позже 4.12.17. Возможна полностью собственная инфраструктура, но адреса моделей и маршрут данных определяются настройкой. Для локальных ONNX-моделей нужны совместимый Debian-образ и ресурсы. Поэтому первый шаг — согласовать точный состав пилота с поставщиком и инфраструктурной командой.
ГРАНИЦЫ И ПОДСКАЗКИ ВЫСТУПАЮЩЕМУ
В документации Gamma: schema-driven provider cards — с 4.12.17, CORS page LLM — с 4.12.18, Models page — с 4.12.19. Это границы конкретных UI-функций Gamma, не доказательство включения всего каталога в APIM .17. Отдельный модуль не обязательно означает отдельный сервер или отдельную покупку: это определяется комплектацией.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S03. Настройка LLM Proxy
https://documentation.gravitee.io/agent-management/build/llm-proxies/configure-an-llm-proxy
S08. PII Filtering
https://documentation.gravitee.io/apim/create-and-configure-apis/apply-policies/policy-reference/pii-filtering
S15. Agent Identity
https://documentation.gravitee.io/agent-management/import/create-an-agent-identity
S16. Fine-Grained Authorization
https://documentation.gravitee.io/agent-management/build/mcp-proxies/configure-your-mcp/design/add-policies-to-mcp-server
S17. Edge / Shadow AI
https://github.com/gravitee-io/gravitee-platform-docs/blob/f495fabe734bf6a84427eb647ab0996624ef7369/docs/gamma/4.12/agent-management/observe/monitor-ai-gateway-from-devices.md
S18. AI resources / ONNX
https://github.com/gravitee-io/gravitee-platform-docs/blob/f495fabe734bf6a84427eb647ab0996624ef7369/docs/gamma/4.12/agent-management/build/ai-resources.md
S19. Модели развёртывания Gamma
https://documentation.gravitee.io/platform-management/install
S23. Enterprise Edition Licensing
https://documentation.gravitee.io/platform-overview/gravitee-platform/gravitee-offerings-ce-vs-ee/enterprise-edition-licensing
S24. Gamma Release Notes
https://documentation.gravitee.io/platform-management/gamma-release-notes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55 секунд.
Запрашиваем согласование ограниченного пилота, а не полной закупки. Предлагаемый объём: один LLM Proxy для одной команды, от трёх до пяти инструментов над выбранными API и один Composite MCP Server. Начать следует с операций чтения и тестовых либо обезличенных данных. До запуска фиксируем исходные показатели и допустимые пороги. Проверяем, что неразрешённые вызовы блокируются, нужные сценарии работают, задержки приемлемы, токены учитываются и процесс подключения нового инструмента воспроизводим. Отдельно оцениваем лицензионные и эксплуатационные затраты. Владельцы пилота — платформенная команда, AI-команда и информационная безопасность. Решение о расширении принимается по результатам этих проверок; A2A, Edge и сложные интеграции добавляются по реальной потребности.
ГРАНИЦЫ И ПОДСКАЗКИ ВЫСТУПАЮЩЕМУ
Объём 1 / 3–5 / 1 — рекомендация из исходного отчёта, не ограничение продукта. Численные KPI, длительность и бюджет не утверждены. До пилота согласовать критерии качества, допустимую добавленную задержку, требования к данным и способ отката.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S02. Создание LLM Proxy
https://documentation.gravitee.io/agent-management/build/llm-proxies/create-an-llm-proxy
S04. API Tools
https://documentation.gravitee.io/agent-management/import/create-api-tools
S05. MCP Studio
https://documentation.gravitee.io/agent-management/build/mcp-proxies/create-an-mcp-studio
S11. LLM Dashboard
https://documentation.gravitee.io/agent-management/observe/dashboards/monitor-your-llm-proxy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0 секунд.
Резервные ссылки для проверки и ответов на вопросы. В основной хронометраж не включены. При расхождении обзорного описания и инструкции к конкретной функции принят консервативный вариант. Заявления о зрелости, доступности в конкретном образе и правах лицензии требуют подтверждения поставщика. Снимок репозитория документации: f495fabe734bf6a84427eb647ab0996624ef7369.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S01. Agent Management: обзор
https://documentation.gravitee.io/agent-management
S02. Создание LLM Proxy
https://documentation.gravitee.io/agent-management/build/llm-proxies/create-an-llm-proxy
S04. API Tools
https://documentation.gravitee.io/agent-management/import/create-api-tools
S05. MCP Studio
https://documentation.gravitee.io/agent-management/build/mcp-proxies/create-an-mcp-studio
S06. Catalog / Import
https://documentation.gravitee.io/agent-management/import
S07. Prompt Guard Rails
https://github.com/gravitee-io/gravitee-platform-docs/blob/f495fabe734bf6a84427eb647ab0996624ef7369/docs/gamma/4.12/agent-management/build/configure-text-classification.md
S08. PII Filtering
https://documentation.gravitee.io/apim/create-and-configure-apis/apply-policies/policy-reference/pii-filtering
S09. Token Rate Limit
https://github.com/gravitee-io/gravitee-platform-docs/blob/f495fabe734bf6a84427eb647ab0996624ef7369/docs/gamma/4.12/agent-management/build/add-the-token-rate-limit-policy.md
S10. AI Semantic Caching
https://documentation.gravitee.io/apim/create-and-configure-apis/apply-policies/policy-reference/ai-semantic-caching
S11. LLM Dashboard
https://documentation.gravitee.io/agent-management/observe/dashboards/monitor-your-llm-proxy
S12. MCP monitoring
https://github.com/gravitee-io/gravitee-platform-docs/blob/f495fabe734bf6a84427eb647ab0996624ef7369/docs/gamma/4.12/agent-management/observe/monitor-your-mcp-servers.md
S13. Trace Explorer
https://github.com/gravitee-io/gravitee-platform-docs/blob/f495fabe734bf6a84427eb647ab0996624ef7369/docs/gamma/4.12/agent-management/observe/trace-an-agent-request.md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0 секунд.
Резервные ссылки для проверки и ответов на вопросы. В основной хронометраж не включены. При расхождении обзорного описания и инструкции к конкретной функции принят консервативный вариант. Заявления о зрелости, доступности в конкретном образе и правах лицензии требуют подтверждения поставщика. Снимок репозитория документации: f495fabe734bf6a84427eb647ab0996624ef7369.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S03. Настройка LLM Proxy
https://documentation.gravitee.io/agent-management/build/llm-proxies/configure-an-llm-proxy
S14. A2A Proxy
https://documentation.gravitee.io/agent-management/build/a2a-proxies/expose-agent-with-a2a-proxy
S15. Agent Identity
https://documentation.gravitee.io/agent-management/import/create-an-agent-identity
S16. Fine-Grained Authorization
https://documentation.gravitee.io/agent-management/build/mcp-proxies/configure-your-mcp/design/add-policies-to-mcp-server
S17. Edge / Shadow AI
https://github.com/gravitee-io/gravitee-platform-docs/blob/f495fabe734bf6a84427eb647ab0996624ef7369/docs/gamma/4.12/agent-management/observe/monitor-ai-gateway-from-devices.md
S18. AI resources / ONNX
https://github.com/gravitee-io/gravitee-platform-docs/blob/f495fabe734bf6a84427eb647ab0996624ef7369/docs/gamma/4.12/agent-management/build/ai-resources.md
S19. Модели развёртывания Gamma
https://documentation.gravitee.io/platform-management/install
S20. External MCP Registry
https://github.com/gravitee-io/gravitee-platform-docs/blob/f495fabe734bf6a84427eb647ab0996624ef7369/docs/gamma/4.12/agent-management/import/add-an-mcp-registry.md
S21. Skills
https://github.com/gravitee-io/gravitee-platform-docs/blob/f495fabe734bf6a84427eb647ab0996624ef7369/docs/gamma/4.12/agent-management/import/upload-skills.md
S22. Knowledge Sources
https://github.com/gravitee-io/gravitee-platform-docs/blob/f495fabe734bf6a84427eb647ab0996624ef7369/docs/gamma/4.12/agent-management/import/add-knowledge-source.md
S23. Enterprise Edition Licensing
https://documentation.gravitee.io/platform-overview/gravitee-platform/gravitee-offerings-ce-vs-ee/enterprise-edition-licensing
S24. Gamma Release Notes
https://documentation.gravitee.io/platform-management/gamma-release-notes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" TargetMode="External"/><Relationship Id="rId2" Type="http://schemas.openxmlformats.org/officeDocument/2006/relationships/hyperlink" Target="https://documentation.gravitee.io/platform-management/gamma-release-note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" TargetMode="External"/><Relationship Id="rId2" Type="http://schemas.openxmlformats.org/officeDocument/2006/relationships/hyperlink" Target="https://documentation.gravitee.io/agent-management/build/llm-proxies/create-an-llm-proxy" TargetMode="External"/><Relationship Id="rId3" Type="http://schemas.openxmlformats.org/officeDocument/2006/relationships/hyperlink" Target="https://documentation.gravitee.io/agent-management/build/mcp-proxies/create-an-mcp-studio" TargetMode="External"/><Relationship Id="rId4" Type="http://schemas.openxmlformats.org/officeDocument/2006/relationships/hyperlink" Target="https://documentation.gravitee.io/agent-management/build/a2a-proxies/expose-agent-with-a2a-proxy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reate-an-llm-proxy" TargetMode="External"/><Relationship Id="rId2" Type="http://schemas.openxmlformats.org/officeDocument/2006/relationships/hyperlink" Target="https://documentation.gravitee.io/agent-management/import/create-api-tools" TargetMode="External"/><Relationship Id="rId3" Type="http://schemas.openxmlformats.org/officeDocument/2006/relationships/hyperlink" Target="https://documentation.gravitee.io/agent-management/build/mcp-proxies/create-an-mcp-studio" TargetMode="External"/><Relationship Id="rId4" Type="http://schemas.openxmlformats.org/officeDocument/2006/relationships/hyperlink" Target="https://documentation.gravitee.io/agent-management/import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ravitee-io/gravitee-platform-docs/blob/f495fabe734bf6a84427eb647ab0996624ef7369/docs/gamma/4.12/agent-management/build/configure-text-classification.md" TargetMode="External"/><Relationship Id="rId2" Type="http://schemas.openxmlformats.org/officeDocument/2006/relationships/hyperlink" Target="https://documentation.gravitee.io/apim/create-and-configure-apis/apply-policies/policy-reference/pii-filtering" TargetMode="External"/><Relationship Id="rId3" Type="http://schemas.openxmlformats.org/officeDocument/2006/relationships/hyperlink" Target="https://github.com/gravitee-io/gravitee-platform-docs/blob/f495fabe734bf6a84427eb647ab0996624ef7369/docs/gamma/4.12/agent-management/build/add-the-token-rate-limit-policy.md" TargetMode="External"/><Relationship Id="rId4" Type="http://schemas.openxmlformats.org/officeDocument/2006/relationships/hyperlink" Target="https://documentation.gravitee.io/apim/create-and-configure-apis/apply-policies/policy-reference/ai-semantic-caching" TargetMode="External"/><Relationship Id="rId5" Type="http://schemas.openxmlformats.org/officeDocument/2006/relationships/hyperlink" Target="https://documentation.gravitee.io/agent-management/observe/dashboards/monitor-your-llm-proxy" TargetMode="External"/><Relationship Id="rId6" Type="http://schemas.openxmlformats.org/officeDocument/2006/relationships/hyperlink" Target="https://github.com/gravitee-io/gravitee-platform-docs/blob/f495fabe734bf6a84427eb647ab0996624ef7369/docs/gamma/4.12/agent-management/observe/monitor-your-mcp-servers.md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onfigure-an-llm-proxy" TargetMode="External"/><Relationship Id="rId2" Type="http://schemas.openxmlformats.org/officeDocument/2006/relationships/hyperlink" Target="https://documentation.gravitee.io/apim/create-and-configure-apis/apply-policies/policy-reference/pii-filtering" TargetMode="External"/><Relationship Id="rId3" Type="http://schemas.openxmlformats.org/officeDocument/2006/relationships/hyperlink" Target="https://documentation.gravitee.io/agent-management/import/create-an-agent-identity" TargetMode="External"/><Relationship Id="rId4" Type="http://schemas.openxmlformats.org/officeDocument/2006/relationships/hyperlink" Target="https://documentation.gravitee.io/agent-management/build/mcp-proxies/configure-your-mcp/design/add-policies-to-mcp-server" TargetMode="External"/><Relationship Id="rId5" Type="http://schemas.openxmlformats.org/officeDocument/2006/relationships/hyperlink" Target="https://github.com/gravitee-io/gravitee-platform-docs/blob/f495fabe734bf6a84427eb647ab0996624ef7369/docs/gamma/4.12/agent-management/observe/monitor-ai-gateway-from-devices.md" TargetMode="External"/><Relationship Id="rId6" Type="http://schemas.openxmlformats.org/officeDocument/2006/relationships/hyperlink" Target="https://github.com/gravitee-io/gravitee-platform-docs/blob/f495fabe734bf6a84427eb647ab0996624ef7369/docs/gamma/4.12/agent-management/build/ai-resources.md" TargetMode="External"/><Relationship Id="rId7" Type="http://schemas.openxmlformats.org/officeDocument/2006/relationships/hyperlink" Target="https://documentation.gravitee.io/platform-management/install" TargetMode="External"/><Relationship Id="rId8" Type="http://schemas.openxmlformats.org/officeDocument/2006/relationships/hyperlink" Target="https://documentation.gravitee.io/platform-overview/gravitee-platform/gravitee-offerings-ce-vs-ee/enterprise-edition-licensing" TargetMode="External"/><Relationship Id="rId9" Type="http://schemas.openxmlformats.org/officeDocument/2006/relationships/hyperlink" Target="https://documentation.gravitee.io/platform-management/gamma-release-notes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reate-an-llm-proxy" TargetMode="External"/><Relationship Id="rId2" Type="http://schemas.openxmlformats.org/officeDocument/2006/relationships/hyperlink" Target="https://documentation.gravitee.io/agent-management/import/create-api-tools" TargetMode="External"/><Relationship Id="rId3" Type="http://schemas.openxmlformats.org/officeDocument/2006/relationships/hyperlink" Target="https://documentation.gravitee.io/agent-management/build/mcp-proxies/create-an-mcp-studio" TargetMode="External"/><Relationship Id="rId4" Type="http://schemas.openxmlformats.org/officeDocument/2006/relationships/hyperlink" Target="https://documentation.gravitee.io/agent-management/observe/dashboards/monitor-your-llm-proxy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" TargetMode="External"/><Relationship Id="rId2" Type="http://schemas.openxmlformats.org/officeDocument/2006/relationships/hyperlink" Target="https://documentation.gravitee.io/agent-management/build/llm-proxies/create-an-llm-proxy" TargetMode="External"/><Relationship Id="rId3" Type="http://schemas.openxmlformats.org/officeDocument/2006/relationships/hyperlink" Target="https://documentation.gravitee.io/agent-management/import/create-api-tools" TargetMode="External"/><Relationship Id="rId4" Type="http://schemas.openxmlformats.org/officeDocument/2006/relationships/hyperlink" Target="https://documentation.gravitee.io/agent-management/build/mcp-proxies/create-an-mcp-studio" TargetMode="External"/><Relationship Id="rId5" Type="http://schemas.openxmlformats.org/officeDocument/2006/relationships/hyperlink" Target="https://documentation.gravitee.io/agent-management/import" TargetMode="External"/><Relationship Id="rId6" Type="http://schemas.openxmlformats.org/officeDocument/2006/relationships/hyperlink" Target="https://github.com/gravitee-io/gravitee-platform-docs/blob/f495fabe734bf6a84427eb647ab0996624ef7369/docs/gamma/4.12/agent-management/build/configure-text-classification.md" TargetMode="External"/><Relationship Id="rId7" Type="http://schemas.openxmlformats.org/officeDocument/2006/relationships/hyperlink" Target="https://documentation.gravitee.io/apim/create-and-configure-apis/apply-policies/policy-reference/pii-filtering" TargetMode="External"/><Relationship Id="rId8" Type="http://schemas.openxmlformats.org/officeDocument/2006/relationships/hyperlink" Target="https://github.com/gravitee-io/gravitee-platform-docs/blob/f495fabe734bf6a84427eb647ab0996624ef7369/docs/gamma/4.12/agent-management/build/add-the-token-rate-limit-policy.md" TargetMode="External"/><Relationship Id="rId9" Type="http://schemas.openxmlformats.org/officeDocument/2006/relationships/hyperlink" Target="https://documentation.gravitee.io/apim/create-and-configure-apis/apply-policies/policy-reference/ai-semantic-caching" TargetMode="External"/><Relationship Id="rId10" Type="http://schemas.openxmlformats.org/officeDocument/2006/relationships/hyperlink" Target="https://documentation.gravitee.io/agent-management/observe/dashboards/monitor-your-llm-proxy" TargetMode="External"/><Relationship Id="rId11" Type="http://schemas.openxmlformats.org/officeDocument/2006/relationships/hyperlink" Target="https://github.com/gravitee-io/gravitee-platform-docs/blob/f495fabe734bf6a84427eb647ab0996624ef7369/docs/gamma/4.12/agent-management/observe/monitor-your-mcp-servers.md" TargetMode="External"/><Relationship Id="rId12" Type="http://schemas.openxmlformats.org/officeDocument/2006/relationships/hyperlink" Target="https://github.com/gravitee-io/gravitee-platform-docs/blob/f495fabe734bf6a84427eb647ab0996624ef7369/docs/gamma/4.12/agent-management/observe/trace-an-agent-request.md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onfigure-an-llm-proxy" TargetMode="External"/><Relationship Id="rId2" Type="http://schemas.openxmlformats.org/officeDocument/2006/relationships/hyperlink" Target="https://documentation.gravitee.io/agent-management/build/a2a-proxies/expose-agent-with-a2a-proxy" TargetMode="External"/><Relationship Id="rId3" Type="http://schemas.openxmlformats.org/officeDocument/2006/relationships/hyperlink" Target="https://documentation.gravitee.io/agent-management/import/create-an-agent-identity" TargetMode="External"/><Relationship Id="rId4" Type="http://schemas.openxmlformats.org/officeDocument/2006/relationships/hyperlink" Target="https://documentation.gravitee.io/agent-management/build/mcp-proxies/configure-your-mcp/design/add-policies-to-mcp-server" TargetMode="External"/><Relationship Id="rId5" Type="http://schemas.openxmlformats.org/officeDocument/2006/relationships/hyperlink" Target="https://github.com/gravitee-io/gravitee-platform-docs/blob/f495fabe734bf6a84427eb647ab0996624ef7369/docs/gamma/4.12/agent-management/observe/monitor-ai-gateway-from-devices.md" TargetMode="External"/><Relationship Id="rId6" Type="http://schemas.openxmlformats.org/officeDocument/2006/relationships/hyperlink" Target="https://github.com/gravitee-io/gravitee-platform-docs/blob/f495fabe734bf6a84427eb647ab0996624ef7369/docs/gamma/4.12/agent-management/build/ai-resources.md" TargetMode="External"/><Relationship Id="rId7" Type="http://schemas.openxmlformats.org/officeDocument/2006/relationships/hyperlink" Target="https://documentation.gravitee.io/platform-management/install" TargetMode="External"/><Relationship Id="rId8" Type="http://schemas.openxmlformats.org/officeDocument/2006/relationships/hyperlink" Target="https://github.com/gravitee-io/gravitee-platform-docs/blob/f495fabe734bf6a84427eb647ab0996624ef7369/docs/gamma/4.12/agent-management/import/add-an-mcp-registry.md" TargetMode="External"/><Relationship Id="rId9" Type="http://schemas.openxmlformats.org/officeDocument/2006/relationships/hyperlink" Target="https://github.com/gravitee-io/gravitee-platform-docs/blob/f495fabe734bf6a84427eb647ab0996624ef7369/docs/gamma/4.12/agent-management/import/upload-skills.md" TargetMode="External"/><Relationship Id="rId10" Type="http://schemas.openxmlformats.org/officeDocument/2006/relationships/hyperlink" Target="https://github.com/gravitee-io/gravitee-platform-docs/blob/f495fabe734bf6a84427eb647ab0996624ef7369/docs/gamma/4.12/agent-management/import/add-knowledge-source.md" TargetMode="External"/><Relationship Id="rId11" Type="http://schemas.openxmlformats.org/officeDocument/2006/relationships/hyperlink" Target="https://documentation.gravitee.io/platform-overview/gravitee-platform/gravitee-offerings-ce-vs-ee/enterprise-edition-licensing" TargetMode="External"/><Relationship Id="rId12" Type="http://schemas.openxmlformats.org/officeDocument/2006/relationships/hyperlink" Target="https://documentation.gravitee.io/platform-management/gamma-release-notes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521208"/>
            <a:ext cx="502920" cy="5029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70432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6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ДЛЯ РУКОВОДСТВА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1371600"/>
            <a:ext cx="7360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Управляемый AI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базе Gravitee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315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F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EE 4.12 / Agent Management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Модели, инструменты и агенты —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общие правила и наблюдаемость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321040" y="1261872"/>
            <a:ext cx="22860" cy="4443984"/>
          </a:xfrm>
          <a:prstGeom prst="rect">
            <a:avLst/>
          </a:prstGeom>
          <a:solidFill>
            <a:srgbClr val="355066"/>
          </a:solidFill>
          <a:ln w="6350">
            <a:solidFill>
              <a:srgbClr val="355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1517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6B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235440" y="15544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D5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235440" y="19293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 что может вызывать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7072" y="2825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6B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235440" y="286207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D5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35440" y="32369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проверки применять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77072" y="4133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6B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35440" y="416966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D5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ЗАТРАТЫ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35440" y="4544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измерять и ограничивать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632704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70" b="1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 начать с ограниченного пилота, а не с полной закупки.</a:t>
            </a:r>
            <a:endParaRPr lang="en-US" sz="1770" dirty="0"/>
          </a:p>
        </p:txBody>
      </p:sp>
      <p:sp>
        <p:nvSpPr>
          <p:cNvPr id="18" name="Shape 16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3550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S01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вида AI-трафика — общие правила контроля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выступает посредником; модели, инструменты и агенты остаются внешними системами.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S01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61104" y="2039112"/>
            <a:ext cx="3739896" cy="3200400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2103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AI-приложение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3392424" y="2551176"/>
            <a:ext cx="93268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43984" y="2286000"/>
            <a:ext cx="3374136" cy="530352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2386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Proxy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00416" y="2551176"/>
            <a:ext cx="859536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2221992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3416" y="2359152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Языковые модели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74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3392424" y="3529584"/>
            <a:ext cx="93268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43984" y="3264408"/>
            <a:ext cx="3374136" cy="530352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Proxy / Studio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00416" y="3529584"/>
            <a:ext cx="859536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69680" y="3200400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43416" y="333756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и MCP-серверы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548640" y="4178808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Агент-координатор</a:t>
            </a:r>
            <a:endParaRPr lang="en-US" sz="1850" dirty="0"/>
          </a:p>
        </p:txBody>
      </p:sp>
      <p:sp>
        <p:nvSpPr>
          <p:cNvPr id="29" name="Shape 27"/>
          <p:cNvSpPr/>
          <p:nvPr/>
        </p:nvSpPr>
        <p:spPr>
          <a:xfrm>
            <a:off x="3392424" y="4507992"/>
            <a:ext cx="93268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43984" y="4242816"/>
            <a:ext cx="3374136" cy="530352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1144" y="4343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Proxy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900416" y="4507992"/>
            <a:ext cx="859536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869680" y="4178808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43416" y="4315968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AI-агент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502920" y="5532120"/>
            <a:ext cx="11183112" cy="630936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564184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слой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724912" y="5632704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· политики обработки · учёт вызовов и потребления</a:t>
            </a:r>
            <a:endParaRPr lang="en-US" sz="15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БИЗНЕС-СЦЕНАРИИ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двух прикладных задач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Предлагаемые сценарии пилота; это не описание уже выполненного внедрения.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5477256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7685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63347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доступ к моделям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4088" y="3383280"/>
            <a:ext cx="5074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Proxy объединяет доступ к поддерживаемым моделям.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правила доступа, токенные лимиты и учёт потребления.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480974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корпоративный помощник команды разработки.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190488" y="2103120"/>
            <a:ext cx="5495544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2276856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1656" y="2633472"/>
            <a:ext cx="5093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Корпоративные API для агентов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91656" y="3383280"/>
            <a:ext cx="50932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Выбранные REST API — как MCP-инструменты.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и MCP Studio собирают только нужные инструменты, инструкции и контекст.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91656" y="4809744"/>
            <a:ext cx="5093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чтение статуса заявки и справочных данных.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502920" y="5541264"/>
            <a:ext cx="11183112" cy="630936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65099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польза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24912" y="5641848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использование API и правил вместо отдельной интеграции для каждого AI-клиента.</a:t>
            </a:r>
            <a:endParaRPr lang="en-US" sz="15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 ЭФФЕКТ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Данные, потребление и диагностика — под контролем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 определяется настройками, качеством моделей фильтрации и полнотой телеметрии.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S07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S09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3602736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633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содержимого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4088" y="3383280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Rails — проверка промптов.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Filtering — маскирование обнаруженных персональных данных.</a:t>
            </a:r>
            <a:endParaRPr lang="en-US" sz="1830" dirty="0"/>
          </a:p>
        </p:txBody>
      </p:sp>
      <p:sp>
        <p:nvSpPr>
          <p:cNvPr id="14" name="Text 12"/>
          <p:cNvSpPr/>
          <p:nvPr/>
        </p:nvSpPr>
        <p:spPr>
          <a:xfrm>
            <a:off x="704088" y="4809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гарантия отсутствия утечек.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288536" y="2103120"/>
            <a:ext cx="3602736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88536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9704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ПОТРЕБЛЕНИЕ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9704" y="2633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 и кеш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9704" y="3383280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 на входные и выходные токены.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кеш — повторное использование подходящих ответов.</a:t>
            </a:r>
            <a:endParaRPr lang="en-US" sz="1830" dirty="0"/>
          </a:p>
        </p:txBody>
      </p:sp>
      <p:sp>
        <p:nvSpPr>
          <p:cNvPr id="20" name="Text 18"/>
          <p:cNvSpPr/>
          <p:nvPr/>
        </p:nvSpPr>
        <p:spPr>
          <a:xfrm>
            <a:off x="4489704" y="4809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зависит от нагрузки.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8074152" y="2103120"/>
            <a:ext cx="3602736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74152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НАБЛЮДАЕМОСТЬ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75320" y="2633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 вызовов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75320" y="3383280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Использованные модели и инструменты.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Ошибки, задержки, токены и расчётная стоимость.</a:t>
            </a:r>
            <a:endParaRPr lang="en-US" sz="1830" dirty="0"/>
          </a:p>
        </p:txBody>
      </p:sp>
      <p:sp>
        <p:nvSpPr>
          <p:cNvPr id="26" name="Text 24"/>
          <p:cNvSpPr/>
          <p:nvPr/>
        </p:nvSpPr>
        <p:spPr>
          <a:xfrm>
            <a:off x="8275320" y="4809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Требуется настройка сбора данных.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502920" y="5541264"/>
            <a:ext cx="11183112" cy="630936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565099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проверим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24912" y="5641848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фильтров, соблюдение лимитов и полноту учёта — на трафике пилота.</a:t>
            </a:r>
            <a:endParaRPr lang="en-US" sz="15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ВНЕДРЕНИЯ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Подключаем нужный набор, а не «всё EE»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отчёта шире классического APIM: часть функций относится к Agent Management в Gamma.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S03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S16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S17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S19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S23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1183112" cy="914400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2494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2258568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8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/ Agent Management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5166360" y="2221992"/>
            <a:ext cx="6236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MCP, A2A; Catalog и Studio.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66360" y="2587752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patch, UI и плагины фиксируем в составе пилота.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502920" y="3145536"/>
            <a:ext cx="1118311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9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34440" y="3328416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8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модули</a:t>
            </a:r>
            <a:endParaRPr lang="en-US" sz="1880" dirty="0"/>
          </a:p>
        </p:txBody>
      </p:sp>
      <p:sp>
        <p:nvSpPr>
          <p:cNvPr id="17" name="Text 15"/>
          <p:cNvSpPr/>
          <p:nvPr/>
        </p:nvSpPr>
        <p:spPr>
          <a:xfrm>
            <a:off x="5166360" y="3291840"/>
            <a:ext cx="6236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— Agent Identity; Authorization — FGA.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66360" y="3657600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устройства сотрудников; Event Stream — Kafka Tools.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02920" y="4215384"/>
            <a:ext cx="11183112" cy="914400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389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4398264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8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 и лицензия</a:t>
            </a:r>
            <a:endParaRPr lang="en-US" sz="1880" dirty="0"/>
          </a:p>
        </p:txBody>
      </p:sp>
      <p:sp>
        <p:nvSpPr>
          <p:cNvPr id="22" name="Text 20"/>
          <p:cNvSpPr/>
          <p:nvPr/>
        </p:nvSpPr>
        <p:spPr>
          <a:xfrm>
            <a:off x="5166360" y="4361688"/>
            <a:ext cx="6236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AI-пакеты, ресурсы и маршрут данных — отдельно.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66360" y="4727448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возможен; ONNX требует Debian-based Gateway.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502920" y="5541264"/>
            <a:ext cx="11183112" cy="630936"/>
          </a:xfrm>
          <a:prstGeom prst="rect">
            <a:avLst/>
          </a:prstGeom>
          <a:solidFill>
            <a:srgbClr val="FAF3E8"/>
          </a:solidFill>
          <a:ln w="6350">
            <a:solidFill>
              <a:srgbClr val="FAF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565099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обещаем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24912" y="5641848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каталог в APIM 4.12.17, гарантированную экономию или готовые roadmap-функции.</a:t>
            </a:r>
            <a:endParaRPr lang="en-US" sz="15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6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пилота. Масштабировать по результату.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157276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Предлагаемый объём — небольшой, изолированный и измеримый.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231136"/>
            <a:ext cx="3602736" cy="1728216"/>
          </a:xfrm>
          <a:prstGeom prst="rect">
            <a:avLst/>
          </a:prstGeom>
          <a:solidFill>
            <a:srgbClr val="1C3A52"/>
          </a:solidFill>
          <a:ln w="6350">
            <a:solidFill>
              <a:srgbClr val="1C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41401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274320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LLM Proxy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331927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команда-потребитель;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поддерживаемые модели.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88536" y="2231136"/>
            <a:ext cx="3602736" cy="1728216"/>
          </a:xfrm>
          <a:prstGeom prst="rect">
            <a:avLst/>
          </a:prstGeom>
          <a:solidFill>
            <a:srgbClr val="1C3A52"/>
          </a:solidFill>
          <a:ln w="6350">
            <a:solidFill>
              <a:srgbClr val="1C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41401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274320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API Tools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480560" y="331927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Composite MCP Server;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операции чтения.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74152" y="2231136"/>
            <a:ext cx="3602736" cy="1728216"/>
          </a:xfrm>
          <a:prstGeom prst="rect">
            <a:avLst/>
          </a:prstGeom>
          <a:solidFill>
            <a:srgbClr val="1C3A52"/>
          </a:solidFill>
          <a:ln w="6350">
            <a:solidFill>
              <a:srgbClr val="1C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241401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66176" y="274320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Тестовый контур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266176" y="331927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Обезличенные данные;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ограниченные полномочия.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" y="43159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РЕШЕНИЯ О РАСШИРЕНИИ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1208" y="46451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и блокировки  ·  задержки и ошибки  ·  полнота учёта токенов  ·  трудоёмкость интеграции</a:t>
            </a:r>
            <a:endParaRPr lang="en-US" sz="2050" dirty="0"/>
          </a:p>
        </p:txBody>
      </p:sp>
      <p:sp>
        <p:nvSpPr>
          <p:cNvPr id="19" name="Shape 17"/>
          <p:cNvSpPr/>
          <p:nvPr/>
        </p:nvSpPr>
        <p:spPr>
          <a:xfrm>
            <a:off x="512064" y="5550408"/>
            <a:ext cx="11164824" cy="0"/>
          </a:xfrm>
          <a:prstGeom prst="line">
            <a:avLst/>
          </a:prstGeom>
          <a:noFill/>
          <a:ln w="12700">
            <a:solidFill>
              <a:srgbClr val="3F5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5751576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владельцев пилота: API-платформа, AI-команда и информационная безопасность.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355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· ИСТОЧНИКИ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источники · 1/2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кликабельны. Полные URL и пояснения приведены в заметках к каждому слайду.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</a:t>
            </a:r>
            <a:endParaRPr lang="en-US" sz="113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170432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Management: обзор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MCP и A2A; границы продукта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</a:t>
            </a:r>
            <a:endParaRPr lang="en-US" sz="113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170432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Создание LLM Proxy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1170432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Модели, aliases, plans; Gamma 4.12.17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</a:t>
            </a:r>
            <a:endParaRPr lang="en-US" sz="113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170432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Tools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1170432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как инструменты для агентов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</a:t>
            </a:r>
            <a:endParaRPr lang="en-US" sz="113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1170432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Studio</a:t>
            </a:r>
            <a:endParaRPr lang="en-US" sz="1410" dirty="0"/>
          </a:p>
        </p:txBody>
      </p:sp>
      <p:sp>
        <p:nvSpPr>
          <p:cNvPr id="19" name="Text 17"/>
          <p:cNvSpPr/>
          <p:nvPr/>
        </p:nvSpPr>
        <p:spPr>
          <a:xfrm>
            <a:off x="1170432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Composite MCP Server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</a:t>
            </a:r>
            <a:endParaRPr lang="en-US" sz="1130" dirty="0"/>
          </a:p>
        </p:txBody>
      </p:sp>
      <p:sp>
        <p:nvSpPr>
          <p:cNvPr id="21" name="Text 19">
            <a:hlinkClick r:id="rId5" tooltip=""/>
          </p:cNvPr>
          <p:cNvSpPr/>
          <p:nvPr/>
        </p:nvSpPr>
        <p:spPr>
          <a:xfrm>
            <a:off x="1170432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Catalog / Import</a:t>
            </a:r>
            <a:endParaRPr lang="en-US" sz="1410" dirty="0"/>
          </a:p>
        </p:txBody>
      </p:sp>
      <p:sp>
        <p:nvSpPr>
          <p:cNvPr id="22" name="Text 20"/>
          <p:cNvSpPr/>
          <p:nvPr/>
        </p:nvSpPr>
        <p:spPr>
          <a:xfrm>
            <a:off x="1170432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Модели, tools, prompts, resources, skills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548640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</a:t>
            </a:r>
            <a:endParaRPr lang="en-US" sz="1130" dirty="0"/>
          </a:p>
        </p:txBody>
      </p:sp>
      <p:sp>
        <p:nvSpPr>
          <p:cNvPr id="24" name="Text 22">
            <a:hlinkClick r:id="rId6" tooltip=""/>
          </p:cNvPr>
          <p:cNvSpPr/>
          <p:nvPr/>
        </p:nvSpPr>
        <p:spPr>
          <a:xfrm>
            <a:off x="1170432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 Guard Rails</a:t>
            </a:r>
            <a:endParaRPr lang="en-US" sz="1410" dirty="0"/>
          </a:p>
        </p:txBody>
      </p:sp>
      <p:sp>
        <p:nvSpPr>
          <p:cNvPr id="25" name="Text 23"/>
          <p:cNvSpPr/>
          <p:nvPr/>
        </p:nvSpPr>
        <p:spPr>
          <a:xfrm>
            <a:off x="1170432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Log/block, пороги и ограничения моделей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6236208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</a:t>
            </a:r>
            <a:endParaRPr lang="en-US" sz="1130" dirty="0"/>
          </a:p>
        </p:txBody>
      </p:sp>
      <p:sp>
        <p:nvSpPr>
          <p:cNvPr id="27" name="Text 25">
            <a:hlinkClick r:id="rId7" tooltip=""/>
          </p:cNvPr>
          <p:cNvSpPr/>
          <p:nvPr/>
        </p:nvSpPr>
        <p:spPr>
          <a:xfrm>
            <a:off x="6858000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PII Filtering</a:t>
            </a:r>
            <a:endParaRPr lang="en-US" sz="1410" dirty="0"/>
          </a:p>
        </p:txBody>
      </p:sp>
      <p:sp>
        <p:nvSpPr>
          <p:cNvPr id="28" name="Text 26"/>
          <p:cNvSpPr/>
          <p:nvPr/>
        </p:nvSpPr>
        <p:spPr>
          <a:xfrm>
            <a:off x="6858000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Редактирование PII, streaming и EE pack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6236208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</a:t>
            </a:r>
            <a:endParaRPr lang="en-US" sz="1130" dirty="0"/>
          </a:p>
        </p:txBody>
      </p:sp>
      <p:sp>
        <p:nvSpPr>
          <p:cNvPr id="30" name="Text 28">
            <a:hlinkClick r:id="rId8" tooltip=""/>
          </p:cNvPr>
          <p:cNvSpPr/>
          <p:nvPr/>
        </p:nvSpPr>
        <p:spPr>
          <a:xfrm>
            <a:off x="6858000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 Rate Limit</a:t>
            </a:r>
            <a:endParaRPr lang="en-US" sz="1410" dirty="0"/>
          </a:p>
        </p:txBody>
      </p:sp>
      <p:sp>
        <p:nvSpPr>
          <p:cNvPr id="31" name="Text 29"/>
          <p:cNvSpPr/>
          <p:nvPr/>
        </p:nvSpPr>
        <p:spPr>
          <a:xfrm>
            <a:off x="6858000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 tokens; стратегии ограничения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6236208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1130" dirty="0"/>
          </a:p>
        </p:txBody>
      </p:sp>
      <p:sp>
        <p:nvSpPr>
          <p:cNvPr id="33" name="Text 31">
            <a:hlinkClick r:id="rId9" tooltip=""/>
          </p:cNvPr>
          <p:cNvSpPr/>
          <p:nvPr/>
        </p:nvSpPr>
        <p:spPr>
          <a:xfrm>
            <a:off x="6858000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Semantic Caching</a:t>
            </a:r>
            <a:endParaRPr lang="en-US" sz="1410" dirty="0"/>
          </a:p>
        </p:txBody>
      </p:sp>
      <p:sp>
        <p:nvSpPr>
          <p:cNvPr id="34" name="Text 32"/>
          <p:cNvSpPr/>
          <p:nvPr/>
        </p:nvSpPr>
        <p:spPr>
          <a:xfrm>
            <a:off x="6858000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Embedding, vector store, разделение кеша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236208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</a:t>
            </a:r>
            <a:endParaRPr lang="en-US" sz="1130" dirty="0"/>
          </a:p>
        </p:txBody>
      </p:sp>
      <p:sp>
        <p:nvSpPr>
          <p:cNvPr id="36" name="Text 34">
            <a:hlinkClick r:id="rId10" tooltip=""/>
          </p:cNvPr>
          <p:cNvSpPr/>
          <p:nvPr/>
        </p:nvSpPr>
        <p:spPr>
          <a:xfrm>
            <a:off x="6858000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 Dashboard</a:t>
            </a:r>
            <a:endParaRPr lang="en-US" sz="1410" dirty="0"/>
          </a:p>
        </p:txBody>
      </p:sp>
      <p:sp>
        <p:nvSpPr>
          <p:cNvPr id="37" name="Text 35"/>
          <p:cNvSpPr/>
          <p:nvPr/>
        </p:nvSpPr>
        <p:spPr>
          <a:xfrm>
            <a:off x="6858000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Метрики, токены и расчётная стоимость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236208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</a:t>
            </a:r>
            <a:endParaRPr lang="en-US" sz="1130" dirty="0"/>
          </a:p>
        </p:txBody>
      </p:sp>
      <p:sp>
        <p:nvSpPr>
          <p:cNvPr id="39" name="Text 37">
            <a:hlinkClick r:id="rId11" tooltip=""/>
          </p:cNvPr>
          <p:cNvSpPr/>
          <p:nvPr/>
        </p:nvSpPr>
        <p:spPr>
          <a:xfrm>
            <a:off x="6858000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monitoring</a:t>
            </a:r>
            <a:endParaRPr lang="en-US" sz="1410" dirty="0"/>
          </a:p>
        </p:txBody>
      </p:sp>
      <p:sp>
        <p:nvSpPr>
          <p:cNvPr id="40" name="Text 38"/>
          <p:cNvSpPr/>
          <p:nvPr/>
        </p:nvSpPr>
        <p:spPr>
          <a:xfrm>
            <a:off x="6858000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инструментов, ошибки, задержки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6236208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</a:t>
            </a:r>
            <a:endParaRPr lang="en-US" sz="1130" dirty="0"/>
          </a:p>
        </p:txBody>
      </p:sp>
      <p:sp>
        <p:nvSpPr>
          <p:cNvPr id="42" name="Text 40">
            <a:hlinkClick r:id="rId12" tooltip=""/>
          </p:cNvPr>
          <p:cNvSpPr/>
          <p:nvPr/>
        </p:nvSpPr>
        <p:spPr>
          <a:xfrm>
            <a:off x="6858000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 Explorer</a:t>
            </a:r>
            <a:endParaRPr lang="en-US" sz="1410" dirty="0"/>
          </a:p>
        </p:txBody>
      </p:sp>
      <p:sp>
        <p:nvSpPr>
          <p:cNvPr id="43" name="Text 41"/>
          <p:cNvSpPr/>
          <p:nvPr/>
        </p:nvSpPr>
        <p:spPr>
          <a:xfrm>
            <a:off x="6858000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OpenTelemetry; область одного прокси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548640" y="5788152"/>
            <a:ext cx="11091672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25312"/>
            <a:ext cx="11100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Основа: каталог AI-функций от 17.09.2026 и его сокращённая версия (5 стр.). Проверка первичных источников: 18.09.2026.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· ИСТОЧНИКИ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источники · 2/2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кликабельны. Полные URL и пояснения приведены в заметках к каждому слайду.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</a:t>
            </a:r>
            <a:endParaRPr lang="en-US" sz="113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170432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Настройка LLM Proxy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моделей; версии .18 и .19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</a:t>
            </a:r>
            <a:endParaRPr lang="en-US" sz="113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170432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Proxy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1170432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Card и проксирование вызовов агента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</a:t>
            </a:r>
            <a:endParaRPr lang="en-US" sz="113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170432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Identity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1170432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Access Management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113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1170432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Fine-Grained Authorization</a:t>
            </a:r>
            <a:endParaRPr lang="en-US" sz="1410" dirty="0"/>
          </a:p>
        </p:txBody>
      </p:sp>
      <p:sp>
        <p:nvSpPr>
          <p:cNvPr id="19" name="Text 17"/>
          <p:cNvSpPr/>
          <p:nvPr/>
        </p:nvSpPr>
        <p:spPr>
          <a:xfrm>
            <a:off x="1170432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Management; доступ к tools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</a:t>
            </a:r>
            <a:endParaRPr lang="en-US" sz="1130" dirty="0"/>
          </a:p>
        </p:txBody>
      </p:sp>
      <p:sp>
        <p:nvSpPr>
          <p:cNvPr id="21" name="Text 19">
            <a:hlinkClick r:id="rId5" tooltip=""/>
          </p:cNvPr>
          <p:cNvSpPr/>
          <p:nvPr/>
        </p:nvSpPr>
        <p:spPr>
          <a:xfrm>
            <a:off x="1170432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 / Shadow AI</a:t>
            </a:r>
            <a:endParaRPr lang="en-US" sz="1410" dirty="0"/>
          </a:p>
        </p:txBody>
      </p:sp>
      <p:sp>
        <p:nvSpPr>
          <p:cNvPr id="22" name="Text 20"/>
          <p:cNvSpPr/>
          <p:nvPr/>
        </p:nvSpPr>
        <p:spPr>
          <a:xfrm>
            <a:off x="1170432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Daemon и трафик на устройствах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548640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</a:t>
            </a:r>
            <a:endParaRPr lang="en-US" sz="1130" dirty="0"/>
          </a:p>
        </p:txBody>
      </p:sp>
      <p:sp>
        <p:nvSpPr>
          <p:cNvPr id="24" name="Text 22">
            <a:hlinkClick r:id="rId6" tooltip=""/>
          </p:cNvPr>
          <p:cNvSpPr/>
          <p:nvPr/>
        </p:nvSpPr>
        <p:spPr>
          <a:xfrm>
            <a:off x="1170432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resources / ONNX</a:t>
            </a:r>
            <a:endParaRPr lang="en-US" sz="1410" dirty="0"/>
          </a:p>
        </p:txBody>
      </p:sp>
      <p:sp>
        <p:nvSpPr>
          <p:cNvPr id="25" name="Text 23"/>
          <p:cNvSpPr/>
          <p:nvPr/>
        </p:nvSpPr>
        <p:spPr>
          <a:xfrm>
            <a:off x="1170432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моделей; Debian-based Gateway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6236208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</a:t>
            </a:r>
            <a:endParaRPr lang="en-US" sz="1130" dirty="0"/>
          </a:p>
        </p:txBody>
      </p:sp>
      <p:sp>
        <p:nvSpPr>
          <p:cNvPr id="27" name="Text 25">
            <a:hlinkClick r:id="rId7" tooltip=""/>
          </p:cNvPr>
          <p:cNvSpPr/>
          <p:nvPr/>
        </p:nvSpPr>
        <p:spPr>
          <a:xfrm>
            <a:off x="6858000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Модели развёртывания Gamma</a:t>
            </a:r>
            <a:endParaRPr lang="en-US" sz="1410" dirty="0"/>
          </a:p>
        </p:txBody>
      </p:sp>
      <p:sp>
        <p:nvSpPr>
          <p:cNvPr id="28" name="Text 26"/>
          <p:cNvSpPr/>
          <p:nvPr/>
        </p:nvSpPr>
        <p:spPr>
          <a:xfrm>
            <a:off x="6858000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или hybrid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6236208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</a:t>
            </a:r>
            <a:endParaRPr lang="en-US" sz="1130" dirty="0"/>
          </a:p>
        </p:txBody>
      </p:sp>
      <p:sp>
        <p:nvSpPr>
          <p:cNvPr id="30" name="Text 28">
            <a:hlinkClick r:id="rId8" tooltip=""/>
          </p:cNvPr>
          <p:cNvSpPr/>
          <p:nvPr/>
        </p:nvSpPr>
        <p:spPr>
          <a:xfrm>
            <a:off x="6858000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External MCP Registry</a:t>
            </a:r>
            <a:endParaRPr lang="en-US" sz="1410" dirty="0"/>
          </a:p>
        </p:txBody>
      </p:sp>
      <p:sp>
        <p:nvSpPr>
          <p:cNvPr id="31" name="Text 29"/>
          <p:cNvSpPr/>
          <p:nvPr/>
        </p:nvSpPr>
        <p:spPr>
          <a:xfrm>
            <a:off x="6858000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Точечная документация: Coming soon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6236208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</a:t>
            </a:r>
            <a:endParaRPr lang="en-US" sz="1130" dirty="0"/>
          </a:p>
        </p:txBody>
      </p:sp>
      <p:sp>
        <p:nvSpPr>
          <p:cNvPr id="33" name="Text 31">
            <a:hlinkClick r:id="rId9" tooltip=""/>
          </p:cNvPr>
          <p:cNvSpPr/>
          <p:nvPr/>
        </p:nvSpPr>
        <p:spPr>
          <a:xfrm>
            <a:off x="6858000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Skills</a:t>
            </a:r>
            <a:endParaRPr lang="en-US" sz="1410" dirty="0"/>
          </a:p>
        </p:txBody>
      </p:sp>
      <p:sp>
        <p:nvSpPr>
          <p:cNvPr id="34" name="Text 32"/>
          <p:cNvSpPr/>
          <p:nvPr/>
        </p:nvSpPr>
        <p:spPr>
          <a:xfrm>
            <a:off x="6858000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Пакеты инструкций как MCP resources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236208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</a:t>
            </a:r>
            <a:endParaRPr lang="en-US" sz="1130" dirty="0"/>
          </a:p>
        </p:txBody>
      </p:sp>
      <p:sp>
        <p:nvSpPr>
          <p:cNvPr id="36" name="Text 34">
            <a:hlinkClick r:id="rId10" tooltip=""/>
          </p:cNvPr>
          <p:cNvSpPr/>
          <p:nvPr/>
        </p:nvSpPr>
        <p:spPr>
          <a:xfrm>
            <a:off x="6858000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Knowledge Sources</a:t>
            </a:r>
            <a:endParaRPr lang="en-US" sz="1410" dirty="0"/>
          </a:p>
        </p:txBody>
      </p:sp>
      <p:sp>
        <p:nvSpPr>
          <p:cNvPr id="37" name="Text 35"/>
          <p:cNvSpPr/>
          <p:nvPr/>
        </p:nvSpPr>
        <p:spPr>
          <a:xfrm>
            <a:off x="6858000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Documents; прочие families — future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236208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</a:t>
            </a:r>
            <a:endParaRPr lang="en-US" sz="1130" dirty="0"/>
          </a:p>
        </p:txBody>
      </p:sp>
      <p:sp>
        <p:nvSpPr>
          <p:cNvPr id="39" name="Text 37">
            <a:hlinkClick r:id="rId11" tooltip=""/>
          </p:cNvPr>
          <p:cNvSpPr/>
          <p:nvPr/>
        </p:nvSpPr>
        <p:spPr>
          <a:xfrm>
            <a:off x="6858000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Edition Licensing</a:t>
            </a:r>
            <a:endParaRPr lang="en-US" sz="1410" dirty="0"/>
          </a:p>
        </p:txBody>
      </p:sp>
      <p:sp>
        <p:nvSpPr>
          <p:cNvPr id="40" name="Text 38"/>
          <p:cNvSpPr/>
          <p:nvPr/>
        </p:nvSpPr>
        <p:spPr>
          <a:xfrm>
            <a:off x="6858000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EE требуется действующая лицензия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6236208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</a:t>
            </a:r>
            <a:endParaRPr lang="en-US" sz="1130" dirty="0"/>
          </a:p>
        </p:txBody>
      </p:sp>
      <p:sp>
        <p:nvSpPr>
          <p:cNvPr id="42" name="Text 40">
            <a:hlinkClick r:id="rId12" tooltip=""/>
          </p:cNvPr>
          <p:cNvSpPr/>
          <p:nvPr/>
        </p:nvSpPr>
        <p:spPr>
          <a:xfrm>
            <a:off x="6858000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Gamma Release Notes</a:t>
            </a:r>
            <a:endParaRPr lang="en-US" sz="1410" dirty="0"/>
          </a:p>
        </p:txBody>
      </p:sp>
      <p:sp>
        <p:nvSpPr>
          <p:cNvPr id="43" name="Text 41"/>
          <p:cNvSpPr/>
          <p:nvPr/>
        </p:nvSpPr>
        <p:spPr>
          <a:xfrm>
            <a:off x="6858000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Продуктовые модули; не матрица прав .17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548640" y="5788152"/>
            <a:ext cx="11091672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25312"/>
            <a:ext cx="11100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Основа: каталог AI-функций от 17.09.2026 и его сокращённая версия (5 стр.). Проверка первичных источников: 18.09.2026.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Управляемый AI на базе Gravitee — 5 минут</dc:title>
  <dc:subject>Gravitee EE 4.12 / Agent Management. Обзор для руководства.</dc:subject>
  <dc:creator/>
  <cp:lastModifiedBy/>
  <cp:revision>1</cp:revision>
  <dcterms:created xsi:type="dcterms:W3CDTF">2026-09-18T11:26:34Z</dcterms:created>
  <dcterms:modified xsi:type="dcterms:W3CDTF">2026-09-18T11:26:34Z</dcterms:modified>
</cp:coreProperties>
</file>