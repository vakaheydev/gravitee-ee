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35 секунд.
Предлагается рассмотреть AI-возможности Gravitee как развитие подхода, который уже применяется к корпоративным API: централизованно управлять доступом, правилами обработки и наблюдаемостью. Предмет обсуждения — не новая языковая модель и не конструктор, который сам создаёт агентов. Речь об инфраструктуре между AI-клиентами, моделями и корпоративными инструментами. В исходном каталоге есть как возможности AI Gateway, так и функции Agent Management в Gamma и интеграции с другими модулями. Поэтому мы предлагаем сначала ограниченный пилот. Он позволит проверить пользу на выбранных сценариях, техническую совместимость и состав лицензии, а уже затем принимать решение о масштабировании.
ГРАНИЦЫ И ПОДСКАЗКИ ВЫСТУПАЮЩЕМУ
Разграничивать APIM и Gamma: номер 4.12 не доказывает, что все интерфейсы Catalog и Studio появятся в существующей Console после замены образа Gateway. Не называть срок окупаемости или процент экономии: расчёта по компании нет.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S01. Agent Management: обзор
https://documentation.gravitee.io/agent-management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50 секунд.
В платформе выделены три типа прокси. LLM Proxy отвечает за вызовы языковых моделей. MCP Proxy управляет доступом агента к инструментам и контексту; в режиме Studio можно собрать собственный набор из нескольких источников. A2A Proxy нужен, когда один самостоятельный агент обращается к другому. Во всех случаях Gravitee находится на пути вызова и применяет настроенные правила. Это позволяет переносить общие требования из отдельных AI-приложений в платформенный слой. Важно не путать направления: MCP даёт агенту инструмент, а A2A позволяет поручить задачу другому агенту. Gateway не заменяет модель, бизнес-сервис или программный код самого агента.
ГРАНИЦЫ И ПОДСКАЗКИ ВЫСТУПАЮЩЕМУ
Контроль применяется к трафику, направленному через соответствующий прокси. Обход Gateway не становится видимым автоматически. Для устройств сотрудников в каталоге предусмотрен отдельный Edge Management.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S01. Agent Management: обзор
https://documentation.gravitee.io/agent-management
S02. Создание LLM Proxy
https://documentation.gravitee.io/agent-management/build/llm-proxies/create-an-llm-proxy
S05. MCP Studio
https://documentation.gravitee.io/agent-management/build/mcp-proxies/create-an-mcp-studio
S14. A2A Proxy
https://documentation.gravitee.io/agent-management/build/a2a-proxies/expose-agent-with-a2a-proxy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60 секунд.
LLM Proxy объединяет доступ к поддерживаемым моделям за общей точкой входа. Потребители используют свои планы и подписки, а настройки upstream-провайдеров централизуются. Aliases позволяют отделить имя, с которым работает приложение, от конкретного идентификатора модели. Параметры можно переопределять, например задавать формат ответа, если его поддерживает модель. Токенный лимит учитывает входные и выходные токены, что ближе к расходу на LLM, чем простое число запросов. Но это не строгий денежный предел: при асинхронной стратегии и параллелизме возможен выход за лимит. Совместимость потоковых ответов, вызовов инструментов и специфичных параметров проверяем на выбранных клиентах. Семантический кеш рассматриваем отдельно, после проверки качества и изоляции данных.
ГРАНИЦЫ И ПОДСКАЗКИ ВЫСТУПАЮЩЕМУ
Не утверждать, что любой клиент или любая модель работают без адаптации. Не обещать автоматическую оптимизацию стоимости и универсальный failover. Provider credentials не становятся безопасными только от переноса: требуется штатное хранение секретов и разграничение доступа.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S02. Создание LLM Proxy
https://documentation.gravitee.io/agent-management/build/llm-proxies/create-an-llm-proxy
S03. Настройка LLM Proxy
https://documentation.gravitee.io/agent-management/build/llm-proxies/configure-an-llm-proxy
S09. Token Rate Limit
https://github.com/gravitee-io/gravitee-platform-docs/blob/f495fabe734bf6a84427eb647ab0996624ef7369/docs/gamma/4.12/agent-management/build/add-the-token-rate-limit-policy.md
S10. AI Semantic Caching
https://documentation.gravitee.io/apim/create-and-configure-apis/apply-policies/policy-reference/ai-semantic-caching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70 секунд.
MCP связывает AI-агента с инструментами и контекстом. Для компании важен мост к существующим API: выбранные REST endpoints регистрируются как API Tools, и бизнес-сервису не требуется самостоятельно реализовывать MCP. В Catalog также находятся tools внешних MCP-серверов, шаблоны prompts, ресурсы, документы Knowledge и пакеты Skills. MCP Studio — это режим MCP Proxy, который собирает выбранные элементы в Composite MCP Server. Например, помощнику сопровождения можно дать получение статуса заявки, поиск регламента и чтение справочника, не открывая весь набор операций системы. При этом каталог Skills хранит инструкции, а не обещает исполнение загруженных скриптов на Gateway. Knowledge Documents предоставляет управляемый контекст, но не означает наличие законченной RAG-платформы.
ГРАНИЦЫ И ПОДСКАЗКИ ВЫСТУПАЮЩЕМУ
Для ваших V2 API с V4 Emulation отдельно проверить совместимость API Tools с целевой Gamma/APIM интеграцией. Не обещать конвертацию любого существующего API одной кнопкой без подготовки. Kafka Tools требуют Event Stream Management и в базовый пилот не включены.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S04. API Tools
https://documentation.gravitee.io/agent-management/import/create-api-tools
S05. MCP Studio
https://documentation.gravitee.io/agent-management/build/mcp-proxies/create-an-mcp-studio
S06. Catalog / Import
https://documentation.gravitee.io/agent-management/import
S21. Skills
https://github.com/gravitee-io/gravitee-platform-docs/blob/f495fabe734bf6a84427eb647ab0996624ef7369/docs/gamma/4.12/agent-management/import/upload-skills.md
S22. Knowledge Sources
https://github.com/gravitee-io/gravitee-platform-docs/blob/f495fabe734bf6a84427eb647ab0996624ef7369/docs/gamma/4.12/agent-management/import/add-knowledge-source.md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45 секунд.
A2A нужен для взаимодействия самостоятельных агентов. Один агент поручает задачу другому, а не просто вызывает отдельную функцию. Gravitee публикует такого upstream-агента через A2A Proxy и отдаёт его Agent Card — описание возможностей и точки обращения. Дальнейшие вызовы проходят через настроенные механизмы доступа, политик и наблюдения. В качестве примера можно представить агента-координатора, который обращается к специализированному агенту поддержки. Это именно иллюстрация будущего сценария, а не заявленная интеграция с нашей ITSM. Для начального пилота A2A не обязателен: сначала стоит подтвердить пользу LLM-доступа и MCP-инструментов. Самих специализированных агентов по-прежнему создают и сопровождают соответствующие команды.
ГРАНИЦЫ И ПОДСКАЗКИ ВЫСТУПАЮЩЕМУ
Не обещать, что A2A Proxy создаёт агента, автоматически планирует его работу или сам обеспечивает корректность ответа. Система Agent Identity в этой части требует Access Management.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S14. A2A Proxy
https://documentation.gravitee.io/agent-management/build/a2a-proxies/expose-agent-with-a2a-proxy
S15. Agent Identity
https://documentation.gravitee.io/agent-management/import/create-an-agent-identity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65 секунд.
Здесь принципиально разделить три вопроса. Кто вызывает? Это аутентификация через планы доступа; специальная регистрация Agent Identity использует Access Management. Что можно делать? Сначала в Studio оставляем только нужные инструменты, затем при наличии Authorization Management применяем детальные разрешения FGA. Например, доступ к чтению заявки не должен означать доступ к её удалению. Какие данные можно передавать? Для этого используются Guard Rails и PII Filtering. Эти модели могут ошибаться, поэтому начинаем с наблюдения и тестов на русском и корпоративном материале. Права учётной записи на стороне бизнес-сервиса всё равно должны быть минимальными. Изоляция на Gateway не исправляет избыточные полномочия backend и не охватывает прямые обходные обращения.
ГРАНИЦЫ И ПОДСКАЗКИ ВЫСТУПАЮЩЕМУ
FGA — отдельный функциональный модуль, а не синоним JWT-плана. Не обещать автоматическое наличие FGA/AM в любой EE-лицензии. Для streaming PII проверить режим обработки ответа.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S02. Создание LLM Proxy
https://documentation.gravitee.io/agent-management/build/llm-proxies/create-an-llm-proxy
S05. MCP Studio
https://documentation.gravitee.io/agent-management/build/mcp-proxies/create-an-mcp-studio
S07. Prompt Guard Rails
https://github.com/gravitee-io/gravitee-platform-docs/blob/f495fabe734bf6a84427eb647ab0996624ef7369/docs/gamma/4.12/agent-management/build/configure-text-classification.md
S08. PII Filtering
https://documentation.gravitee.io/apim/create-and-configure-apis/apply-policies/policy-reference/pii-filtering
S15. Agent Identity
https://documentation.gravitee.io/agent-management/import/create-an-agent-identity
S16. Fine-Grained Authorization
https://documentation.gravitee.io/agent-management/build/mcp-proxies/configure-your-mcp/design/add-policies-to-mcp-server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55 секунд.
Наблюдаемость должна отвечать на конкретные вопросы руководства и эксплуатации. Какие модели и инструменты используются? Где происходят задержки и ошибки? Сколько токенов потреблено? LLM Dashboard рассчитывает стоимость по токенам и заданным ценам модели. Это не счёт провайдера; если отсутствует usage или цена, учёт неполон. MCP-метрики показывают вызовы инструментов, ошибки и задержки. Логи и OpenTelemetry помогают разбирать конкретный вызов, но Trace Explorer в проверенной документации ограничен выбранным прокси. Не обещаем автоматическую сквозную картину всех систем. Возможную экономию от aliases, лимитов и кеша проверяем на пилоте с сохранением качества ответов. Отдельно считаем лицензию, инфраструктуру и сопровождение, чтобы не подменять расчёт эффекта графиком токенов.
ГРАНИЦЫ И ПОДСКАЗКИ ВЫСТУПАЮЩЕМУ
При payload logging в хранилище могут оказаться prompts и ответы с чувствительными данными. Нужны правила состава логов, доступа и retention. Пример формулы стоимости — документированный метод, но входные цены не являются тарифным предложением поставщика.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S09. Token Rate Limit
https://github.com/gravitee-io/gravitee-platform-docs/blob/f495fabe734bf6a84427eb647ab0996624ef7369/docs/gamma/4.12/agent-management/build/add-the-token-rate-limit-policy.md
S10. AI Semantic Caching
https://documentation.gravitee.io/apim/create-and-configure-apis/apply-policies/policy-reference/ai-semantic-caching
S11. LLM Dashboard
https://documentation.gravitee.io/agent-management/observe/dashboards/monitor-your-llm-proxy
S12. MCP monitoring
https://github.com/gravitee-io/gravitee-platform-docs/blob/f495fabe734bf6a84427eb647ab0996624ef7369/docs/gamma/4.12/agent-management/observe/monitor-your-mcp-servers.md
S13. Trace Explorer
https://github.com/gravitee-io/gravitee-platform-docs/blob/f495fabe734bf6a84427eb647ab0996624ef7369/docs/gamma/4.12/agent-management/observe/trace-an-agent-request.md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55 секунд.
Название Enterprise Edition само по себе не задаёт полный состав решения. Исходный отчёт включает возможности Agent Management в Gamma и несколько интеграций. Agent Identity использует Access Management, детальные права FGA — Authorization Management, видимость AI-трафика на устройствах — Edge Management. Для Kafka Tools нужен Event Stream Management. Отдельно подтверждаются AI policy packs. Также фиксируем конкретный patch и версии плагинов: документация ветки обновляется, и отдельные интерфейсы появились позже 4.12.17. Возможна полностью собственная инфраструктура, но адреса моделей и маршрут данных определяются настройкой. Для локальных ONNX-моделей нужны совместимый Debian-образ и ресурсы. Поэтому первый шаг — согласовать точный состав пилота с поставщиком и инфраструктурной командой.
ГРАНИЦЫ И ПОДСКАЗКИ ВЫСТУПАЮЩЕМУ
В документации Gamma: schema-driven provider cards — с 4.12.17, CORS page LLM — с 4.12.18, Models page — с 4.12.19. Это границы конкретных UI-функций Gamma, не доказательство включения всего каталога в APIM .17. Отдельный модуль не обязательно означает отдельный сервер или отдельную покупку: это определяется комплектацией.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S03. Настройка LLM Proxy
https://documentation.gravitee.io/agent-management/build/llm-proxies/configure-an-llm-proxy
S08. PII Filtering
https://documentation.gravitee.io/apim/create-and-configure-apis/apply-policies/policy-reference/pii-filtering
S15. Agent Identity
https://documentation.gravitee.io/agent-management/import/create-an-agent-identity
S16. Fine-Grained Authorization
https://documentation.gravitee.io/agent-management/build/mcp-proxies/configure-your-mcp/design/add-policies-to-mcp-server
S17. Edge / Shadow AI
https://github.com/gravitee-io/gravitee-platform-docs/blob/f495fabe734bf6a84427eb647ab0996624ef7369/docs/gamma/4.12/agent-management/observe/monitor-ai-gateway-from-devices.md
S18. AI resources / ONNX
https://github.com/gravitee-io/gravitee-platform-docs/blob/f495fabe734bf6a84427eb647ab0996624ef7369/docs/gamma/4.12/agent-management/build/ai-resources.md
S19. Модели развёртывания Gamma
https://documentation.gravitee.io/platform-management/install
S23. Enterprise Edition Licensing
https://documentation.gravitee.io/platform-overview/gravitee-platform/gravitee-offerings-ce-vs-ee/enterprise-edition-licensing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65 секунд.
Запрашиваем согласование ограниченного пилота, а не полной закупки. Предлагаемый объём: один LLM Proxy для одной команды, от трёх до пяти инструментов над выбранными API и один Composite MCP Server. Начать следует с операций чтения и тестовых либо обезличенных данных. До запуска фиксируем исходные показатели и допустимые пороги. Проверяем, что неразрешённые вызовы блокируются, нужные сценарии работают, задержки приемлемы, токены учитываются и процесс подключения нового инструмента воспроизводим. Отдельно оцениваем лицензионные и эксплуатационные затраты. Владельцы пилота — платформенная команда, AI-команда и информационная безопасность. Решение о расширении принимается по результатам этих проверок; A2A, Edge и сложные интеграции добавляются по реальной потребности.
ГРАНИЦЫ И ПОДСКАЗКИ ВЫСТУПАЮЩЕМУ
Объём 1 / 3–5 / 1 — рекомендация из исходного отчёта, не ограничение продукта. Численные KPI, длительность и бюджет не утверждены. До пилота согласовать критерии качества, допустимую добавленную задержку, требования к данным и способ отката.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S02. Создание LLM Proxy
https://documentation.gravitee.io/agent-management/build/llm-proxies/create-an-llm-proxy
S04. API Tools
https://documentation.gravitee.io/agent-management/import/create-api-tools
S05. MCP Studio
https://documentation.gravitee.io/agent-management/build/mcp-proxies/create-an-mcp-studio
S11. LLM Dashboard
https://documentation.gravitee.io/agent-management/observe/dashboards/monitor-your-llm-proxy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0 секунд.
Резервный слайд, в основной хронометраж не включён. Здесь собраны ограничения для технических и коммерческих вопросов. Исходный каталог не является спецификацией поставки APIM 4.12.17. Gamma-документация и инструкции отдельных плагинов обновляются. До решения о закупке необходим подтверждённый перечень функций и состав совместимых версий.
ГРАНИЦЫ И ПОДСКАЗКИ ВЫСТУПАЮЩЕМУ
Уточнения относительно исходного отчёта: 1) patch-границы provider cards/CORS/Models относятся к Gamma; 2) Trace Explorer не обещает единую межпрокси трассу; 3) в Gamma release notes встречается общее утверждение об импорте registry, но точечная инструкция явно пишет Coming soon — в презентациях массовый импорт не считается доступным; 4) не все дополнительные модули автоматически включены в EE; 5) draft/hidden пункты из исходного отчёта не использованы как обещанные функции.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S03. Настройка LLM Proxy
https://documentation.gravitee.io/agent-management/build/llm-proxies/configure-an-llm-proxy
S08. PII Filtering
https://documentation.gravitee.io/apim/create-and-configure-apis/apply-policies/policy-reference/pii-filtering
S13. Trace Explorer
https://github.com/gravitee-io/gravitee-platform-docs/blob/f495fabe734bf6a84427eb647ab0996624ef7369/docs/gamma/4.12/agent-management/observe/trace-an-agent-request.md
S18. AI resources / ONNX
https://github.com/gravitee-io/gravitee-platform-docs/blob/f495fabe734bf6a84427eb647ab0996624ef7369/docs/gamma/4.12/agent-management/build/ai-resources.md
S20. External MCP Registry
https://github.com/gravitee-io/gravitee-platform-docs/blob/f495fabe734bf6a84427eb647ab0996624ef7369/docs/gamma/4.12/agent-management/import/add-an-mcp-registry.md
S21. Skills
https://github.com/gravitee-io/gravitee-platform-docs/blob/f495fabe734bf6a84427eb647ab0996624ef7369/docs/gamma/4.12/agent-management/import/upload-skills.md
S22. Knowledge Sources
https://github.com/gravitee-io/gravitee-platform-docs/blob/f495fabe734bf6a84427eb647ab0996624ef7369/docs/gamma/4.12/agent-management/import/add-knowledge-source.md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0 секунд.
Резервные ссылки для проверки и ответов на вопросы. В основной хронометраж не включены. При расхождении обзорного описания и инструкции к конкретной функции принят консервативный вариант. Заявления о зрелости, доступности в конкретном образе и правах лицензии требуют подтверждения поставщика. Снимок репозитория документации: f495fabe734bf6a84427eb647ab0996624ef7369.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S01. Agent Management: обзор
https://documentation.gravitee.io/agent-management
S02. Создание LLM Proxy
https://documentation.gravitee.io/agent-management/build/llm-proxies/create-an-llm-proxy
S03. Настройка LLM Proxy
https://documentation.gravitee.io/agent-management/build/llm-proxies/configure-an-llm-proxy
S04. API Tools
https://documentation.gravitee.io/agent-management/import/create-api-tools
S05. MCP Studio
https://documentation.gravitee.io/agent-management/build/mcp-proxies/create-an-mcp-studio
S06. Catalog / Import
https://documentation.gravitee.io/agent-management/import
S07. Prompt Guard Rails
https://github.com/gravitee-io/gravitee-platform-docs/blob/f495fabe734bf6a84427eb647ab0996624ef7369/docs/gamma/4.12/agent-management/build/configure-text-classification.md
S08. PII Filtering
https://documentation.gravitee.io/apim/create-and-configure-apis/apply-policies/policy-reference/pii-filtering
S09. Token Rate Limit
https://github.com/gravitee-io/gravitee-platform-docs/blob/f495fabe734bf6a84427eb647ab0996624ef7369/docs/gamma/4.12/agent-management/build/add-the-token-rate-limit-policy.md
S10. AI Semantic Caching
https://documentation.gravitee.io/apim/create-and-configure-apis/apply-policies/policy-reference/ai-semantic-caching
S11. LLM Dashboard
https://documentation.gravitee.io/agent-management/observe/dashboards/monitor-your-llm-proxy
S12. MCP monitoring
https://github.com/gravitee-io/gravitee-platform-docs/blob/f495fabe734bf6a84427eb647ab0996624ef7369/docs/gamma/4.12/agent-management/observe/monitor-your-mcp-servers.md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ВЫСТУПЛЕНИЯ: 0 секунд.
Резервные ссылки для проверки и ответов на вопросы. В основной хронометраж не включены. При расхождении обзорного описания и инструкции к конкретной функции принят консервативный вариант. Заявления о зрелости, доступности в конкретном образе и правах лицензии требуют подтверждения поставщика. Снимок репозитория документации: f495fabe734bf6a84427eb647ab0996624ef7369.
ОСНОВА
Gravitee_EE_4.12_AI_Features_Compact_RU.docx, 5 страниц, на основе каталога от 17.09.2026. Использована терминология и структура исходного отчёта. Веб-проверка: 18.09.2026. Возможности по документации не равны испытанию на инфраструктуре компании. Предложения по пилоту — рекомендации, не сведения о текущем внедрении.
ПЕРВИЧНЫЕ ИСТОЧНИКИ
S13. Trace Explorer
https://github.com/gravitee-io/gravitee-platform-docs/blob/f495fabe734bf6a84427eb647ab0996624ef7369/docs/gamma/4.12/agent-management/observe/trace-an-agent-request.md
S14. A2A Proxy
https://documentation.gravitee.io/agent-management/build/a2a-proxies/expose-agent-with-a2a-proxy
S15. Agent Identity
https://documentation.gravitee.io/agent-management/import/create-an-agent-identity
S16. Fine-Grained Authorization
https://documentation.gravitee.io/agent-management/build/mcp-proxies/configure-your-mcp/design/add-policies-to-mcp-server
S17. Edge / Shadow AI
https://github.com/gravitee-io/gravitee-platform-docs/blob/f495fabe734bf6a84427eb647ab0996624ef7369/docs/gamma/4.12/agent-management/observe/monitor-ai-gateway-from-devices.md
S18. AI resources / ONNX
https://github.com/gravitee-io/gravitee-platform-docs/blob/f495fabe734bf6a84427eb647ab0996624ef7369/docs/gamma/4.12/agent-management/build/ai-resources.md
S19. Модели развёртывания Gamma
https://documentation.gravitee.io/platform-management/install
S20. External MCP Registry
https://github.com/gravitee-io/gravitee-platform-docs/blob/f495fabe734bf6a84427eb647ab0996624ef7369/docs/gamma/4.12/agent-management/import/add-an-mcp-registry.md
S21. Skills
https://github.com/gravitee-io/gravitee-platform-docs/blob/f495fabe734bf6a84427eb647ab0996624ef7369/docs/gamma/4.12/agent-management/import/upload-skills.md
S22. Knowledge Sources
https://github.com/gravitee-io/gravitee-platform-docs/blob/f495fabe734bf6a84427eb647ab0996624ef7369/docs/gamma/4.12/agent-management/import/add-knowledge-source.md
S23. Enterprise Edition Licensing
https://documentation.gravitee.io/platform-overview/gravitee-platform/gravitee-offerings-ce-vs-ee/enterprise-edition-licensing
S24. Gamma Release Notes
https://documentation.gravitee.io/platform-management/gamma-release-notes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" TargetMode="External"/><Relationship Id="rId2" Type="http://schemas.openxmlformats.org/officeDocument/2006/relationships/hyperlink" Target="https://documentation.gravitee.io/platform-management/gamma-release-note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" TargetMode="External"/><Relationship Id="rId2" Type="http://schemas.openxmlformats.org/officeDocument/2006/relationships/hyperlink" Target="https://documentation.gravitee.io/agent-management/build/llm-proxies/create-an-llm-proxy" TargetMode="External"/><Relationship Id="rId3" Type="http://schemas.openxmlformats.org/officeDocument/2006/relationships/hyperlink" Target="https://documentation.gravitee.io/agent-management/build/mcp-proxies/create-an-mcp-studio" TargetMode="External"/><Relationship Id="rId4" Type="http://schemas.openxmlformats.org/officeDocument/2006/relationships/hyperlink" Target="https://documentation.gravitee.io/agent-management/build/a2a-proxies/expose-agent-with-a2a-proxy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reate-an-llm-proxy" TargetMode="External"/><Relationship Id="rId2" Type="http://schemas.openxmlformats.org/officeDocument/2006/relationships/hyperlink" Target="https://documentation.gravitee.io/agent-management/build/llm-proxies/configure-an-llm-proxy" TargetMode="External"/><Relationship Id="rId3" Type="http://schemas.openxmlformats.org/officeDocument/2006/relationships/hyperlink" Target="https://github.com/gravitee-io/gravitee-platform-docs/blob/f495fabe734bf6a84427eb647ab0996624ef7369/docs/gamma/4.12/agent-management/build/add-the-token-rate-limit-policy.md" TargetMode="External"/><Relationship Id="rId4" Type="http://schemas.openxmlformats.org/officeDocument/2006/relationships/hyperlink" Target="https://documentation.gravitee.io/apim/create-and-configure-apis/apply-policies/policy-reference/ai-semantic-caching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import/create-api-tools" TargetMode="External"/><Relationship Id="rId2" Type="http://schemas.openxmlformats.org/officeDocument/2006/relationships/hyperlink" Target="https://documentation.gravitee.io/agent-management/build/mcp-proxies/create-an-mcp-studio" TargetMode="External"/><Relationship Id="rId3" Type="http://schemas.openxmlformats.org/officeDocument/2006/relationships/hyperlink" Target="https://documentation.gravitee.io/agent-management/import" TargetMode="External"/><Relationship Id="rId4" Type="http://schemas.openxmlformats.org/officeDocument/2006/relationships/hyperlink" Target="https://github.com/gravitee-io/gravitee-platform-docs/blob/f495fabe734bf6a84427eb647ab0996624ef7369/docs/gamma/4.12/agent-management/import/upload-skills.md" TargetMode="External"/><Relationship Id="rId5" Type="http://schemas.openxmlformats.org/officeDocument/2006/relationships/hyperlink" Target="https://github.com/gravitee-io/gravitee-platform-docs/blob/f495fabe734bf6a84427eb647ab0996624ef7369/docs/gamma/4.12/agent-management/import/add-knowledge-source.md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a2a-proxies/expose-agent-with-a2a-proxy" TargetMode="External"/><Relationship Id="rId2" Type="http://schemas.openxmlformats.org/officeDocument/2006/relationships/hyperlink" Target="https://documentation.gravitee.io/agent-management/import/create-an-agent-ident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reate-an-llm-proxy" TargetMode="External"/><Relationship Id="rId2" Type="http://schemas.openxmlformats.org/officeDocument/2006/relationships/hyperlink" Target="https://documentation.gravitee.io/agent-management/build/mcp-proxies/create-an-mcp-studio" TargetMode="External"/><Relationship Id="rId3" Type="http://schemas.openxmlformats.org/officeDocument/2006/relationships/hyperlink" Target="https://github.com/gravitee-io/gravitee-platform-docs/blob/f495fabe734bf6a84427eb647ab0996624ef7369/docs/gamma/4.12/agent-management/build/configure-text-classification.md" TargetMode="External"/><Relationship Id="rId4" Type="http://schemas.openxmlformats.org/officeDocument/2006/relationships/hyperlink" Target="https://documentation.gravitee.io/apim/create-and-configure-apis/apply-policies/policy-reference/pii-filtering" TargetMode="External"/><Relationship Id="rId5" Type="http://schemas.openxmlformats.org/officeDocument/2006/relationships/hyperlink" Target="https://documentation.gravitee.io/agent-management/import/create-an-agent-identity" TargetMode="External"/><Relationship Id="rId6" Type="http://schemas.openxmlformats.org/officeDocument/2006/relationships/hyperlink" Target="https://documentation.gravitee.io/agent-management/build/mcp-proxies/configure-your-mcp/design/add-policies-to-mcp-server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ravitee-io/gravitee-platform-docs/blob/f495fabe734bf6a84427eb647ab0996624ef7369/docs/gamma/4.12/agent-management/build/add-the-token-rate-limit-policy.md" TargetMode="External"/><Relationship Id="rId2" Type="http://schemas.openxmlformats.org/officeDocument/2006/relationships/hyperlink" Target="https://documentation.gravitee.io/apim/create-and-configure-apis/apply-policies/policy-reference/ai-semantic-caching" TargetMode="External"/><Relationship Id="rId3" Type="http://schemas.openxmlformats.org/officeDocument/2006/relationships/hyperlink" Target="https://documentation.gravitee.io/agent-management/observe/dashboards/monitor-your-llm-proxy" TargetMode="External"/><Relationship Id="rId4" Type="http://schemas.openxmlformats.org/officeDocument/2006/relationships/hyperlink" Target="https://github.com/gravitee-io/gravitee-platform-docs/blob/f495fabe734bf6a84427eb647ab0996624ef7369/docs/gamma/4.12/agent-management/observe/monitor-your-mcp-servers.md" TargetMode="External"/><Relationship Id="rId5" Type="http://schemas.openxmlformats.org/officeDocument/2006/relationships/hyperlink" Target="https://github.com/gravitee-io/gravitee-platform-docs/blob/f495fabe734bf6a84427eb647ab0996624ef7369/docs/gamma/4.12/agent-management/observe/trace-an-agent-request.md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onfigure-an-llm-proxy" TargetMode="External"/><Relationship Id="rId2" Type="http://schemas.openxmlformats.org/officeDocument/2006/relationships/hyperlink" Target="https://documentation.gravitee.io/apim/create-and-configure-apis/apply-policies/policy-reference/pii-filtering" TargetMode="External"/><Relationship Id="rId3" Type="http://schemas.openxmlformats.org/officeDocument/2006/relationships/hyperlink" Target="https://documentation.gravitee.io/agent-management/import/create-an-agent-identity" TargetMode="External"/><Relationship Id="rId4" Type="http://schemas.openxmlformats.org/officeDocument/2006/relationships/hyperlink" Target="https://documentation.gravitee.io/agent-management/build/mcp-proxies/configure-your-mcp/design/add-policies-to-mcp-server" TargetMode="External"/><Relationship Id="rId5" Type="http://schemas.openxmlformats.org/officeDocument/2006/relationships/hyperlink" Target="https://github.com/gravitee-io/gravitee-platform-docs/blob/f495fabe734bf6a84427eb647ab0996624ef7369/docs/gamma/4.12/agent-management/observe/monitor-ai-gateway-from-devices.md" TargetMode="External"/><Relationship Id="rId6" Type="http://schemas.openxmlformats.org/officeDocument/2006/relationships/hyperlink" Target="https://github.com/gravitee-io/gravitee-platform-docs/blob/f495fabe734bf6a84427eb647ab0996624ef7369/docs/gamma/4.12/agent-management/build/ai-resources.md" TargetMode="External"/><Relationship Id="rId7" Type="http://schemas.openxmlformats.org/officeDocument/2006/relationships/hyperlink" Target="https://documentation.gravitee.io/platform-management/install" TargetMode="External"/><Relationship Id="rId8" Type="http://schemas.openxmlformats.org/officeDocument/2006/relationships/hyperlink" Target="https://documentation.gravitee.io/platform-overview/gravitee-platform/gravitee-offerings-ce-vs-ee/enterprise-edition-licensing" TargetMode="External"/><Relationship Id="rId9" Type="http://schemas.openxmlformats.org/officeDocument/2006/relationships/hyperlink" Target="https://documentation.gravitee.io/platform-management/gamma-release-notes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reate-an-llm-proxy" TargetMode="External"/><Relationship Id="rId2" Type="http://schemas.openxmlformats.org/officeDocument/2006/relationships/hyperlink" Target="https://documentation.gravitee.io/agent-management/import/create-api-tools" TargetMode="External"/><Relationship Id="rId3" Type="http://schemas.openxmlformats.org/officeDocument/2006/relationships/hyperlink" Target="https://documentation.gravitee.io/agent-management/build/mcp-proxies/create-an-mcp-studio" TargetMode="External"/><Relationship Id="rId4" Type="http://schemas.openxmlformats.org/officeDocument/2006/relationships/hyperlink" Target="https://documentation.gravitee.io/agent-management/observe/dashboards/monitor-your-llm-proxy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/build/llm-proxies/configure-an-llm-proxy" TargetMode="External"/><Relationship Id="rId2" Type="http://schemas.openxmlformats.org/officeDocument/2006/relationships/hyperlink" Target="https://documentation.gravitee.io/apim/create-and-configure-apis/apply-policies/policy-reference/pii-filtering" TargetMode="External"/><Relationship Id="rId3" Type="http://schemas.openxmlformats.org/officeDocument/2006/relationships/hyperlink" Target="https://github.com/gravitee-io/gravitee-platform-docs/blob/f495fabe734bf6a84427eb647ab0996624ef7369/docs/gamma/4.12/agent-management/observe/trace-an-agent-request.md" TargetMode="External"/><Relationship Id="rId4" Type="http://schemas.openxmlformats.org/officeDocument/2006/relationships/hyperlink" Target="https://github.com/gravitee-io/gravitee-platform-docs/blob/f495fabe734bf6a84427eb647ab0996624ef7369/docs/gamma/4.12/agent-management/build/ai-resources.md" TargetMode="External"/><Relationship Id="rId5" Type="http://schemas.openxmlformats.org/officeDocument/2006/relationships/hyperlink" Target="https://github.com/gravitee-io/gravitee-platform-docs/blob/f495fabe734bf6a84427eb647ab0996624ef7369/docs/gamma/4.12/agent-management/import/add-an-mcp-registry.md" TargetMode="External"/><Relationship Id="rId6" Type="http://schemas.openxmlformats.org/officeDocument/2006/relationships/hyperlink" Target="https://github.com/gravitee-io/gravitee-platform-docs/blob/f495fabe734bf6a84427eb647ab0996624ef7369/docs/gamma/4.12/agent-management/import/add-knowledge-source.md" TargetMode="External"/><Relationship Id="rId7" Type="http://schemas.openxmlformats.org/officeDocument/2006/relationships/hyperlink" Target="https://documentation.gravitee.io/platform-management/gamma-release-notes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umentation.gravitee.io/agent-management" TargetMode="External"/><Relationship Id="rId2" Type="http://schemas.openxmlformats.org/officeDocument/2006/relationships/hyperlink" Target="https://documentation.gravitee.io/agent-management/build/llm-proxies/create-an-llm-proxy" TargetMode="External"/><Relationship Id="rId3" Type="http://schemas.openxmlformats.org/officeDocument/2006/relationships/hyperlink" Target="https://documentation.gravitee.io/agent-management/build/llm-proxies/configure-an-llm-proxy" TargetMode="External"/><Relationship Id="rId4" Type="http://schemas.openxmlformats.org/officeDocument/2006/relationships/hyperlink" Target="https://documentation.gravitee.io/agent-management/import/create-api-tools" TargetMode="External"/><Relationship Id="rId5" Type="http://schemas.openxmlformats.org/officeDocument/2006/relationships/hyperlink" Target="https://documentation.gravitee.io/agent-management/build/mcp-proxies/create-an-mcp-studio" TargetMode="External"/><Relationship Id="rId6" Type="http://schemas.openxmlformats.org/officeDocument/2006/relationships/hyperlink" Target="https://documentation.gravitee.io/agent-management/import" TargetMode="External"/><Relationship Id="rId7" Type="http://schemas.openxmlformats.org/officeDocument/2006/relationships/hyperlink" Target="https://github.com/gravitee-io/gravitee-platform-docs/blob/f495fabe734bf6a84427eb647ab0996624ef7369/docs/gamma/4.12/agent-management/build/configure-text-classification.md" TargetMode="External"/><Relationship Id="rId8" Type="http://schemas.openxmlformats.org/officeDocument/2006/relationships/hyperlink" Target="https://documentation.gravitee.io/apim/create-and-configure-apis/apply-policies/policy-reference/pii-filtering" TargetMode="External"/><Relationship Id="rId9" Type="http://schemas.openxmlformats.org/officeDocument/2006/relationships/hyperlink" Target="https://github.com/gravitee-io/gravitee-platform-docs/blob/f495fabe734bf6a84427eb647ab0996624ef7369/docs/gamma/4.12/agent-management/build/add-the-token-rate-limit-policy.md" TargetMode="External"/><Relationship Id="rId10" Type="http://schemas.openxmlformats.org/officeDocument/2006/relationships/hyperlink" Target="https://documentation.gravitee.io/apim/create-and-configure-apis/apply-policies/policy-reference/ai-semantic-caching" TargetMode="External"/><Relationship Id="rId11" Type="http://schemas.openxmlformats.org/officeDocument/2006/relationships/hyperlink" Target="https://documentation.gravitee.io/agent-management/observe/dashboards/monitor-your-llm-proxy" TargetMode="External"/><Relationship Id="rId12" Type="http://schemas.openxmlformats.org/officeDocument/2006/relationships/hyperlink" Target="https://github.com/gravitee-io/gravitee-platform-docs/blob/f495fabe734bf6a84427eb647ab0996624ef7369/docs/gamma/4.12/agent-management/observe/monitor-your-mcp-servers.md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ravitee-io/gravitee-platform-docs/blob/f495fabe734bf6a84427eb647ab0996624ef7369/docs/gamma/4.12/agent-management/observe/trace-an-agent-request.md" TargetMode="External"/><Relationship Id="rId2" Type="http://schemas.openxmlformats.org/officeDocument/2006/relationships/hyperlink" Target="https://documentation.gravitee.io/agent-management/build/a2a-proxies/expose-agent-with-a2a-proxy" TargetMode="External"/><Relationship Id="rId3" Type="http://schemas.openxmlformats.org/officeDocument/2006/relationships/hyperlink" Target="https://documentation.gravitee.io/agent-management/import/create-an-agent-identity" TargetMode="External"/><Relationship Id="rId4" Type="http://schemas.openxmlformats.org/officeDocument/2006/relationships/hyperlink" Target="https://documentation.gravitee.io/agent-management/build/mcp-proxies/configure-your-mcp/design/add-policies-to-mcp-server" TargetMode="External"/><Relationship Id="rId5" Type="http://schemas.openxmlformats.org/officeDocument/2006/relationships/hyperlink" Target="https://github.com/gravitee-io/gravitee-platform-docs/blob/f495fabe734bf6a84427eb647ab0996624ef7369/docs/gamma/4.12/agent-management/observe/monitor-ai-gateway-from-devices.md" TargetMode="External"/><Relationship Id="rId6" Type="http://schemas.openxmlformats.org/officeDocument/2006/relationships/hyperlink" Target="https://github.com/gravitee-io/gravitee-platform-docs/blob/f495fabe734bf6a84427eb647ab0996624ef7369/docs/gamma/4.12/agent-management/build/ai-resources.md" TargetMode="External"/><Relationship Id="rId7" Type="http://schemas.openxmlformats.org/officeDocument/2006/relationships/hyperlink" Target="https://documentation.gravitee.io/platform-management/install" TargetMode="External"/><Relationship Id="rId8" Type="http://schemas.openxmlformats.org/officeDocument/2006/relationships/hyperlink" Target="https://github.com/gravitee-io/gravitee-platform-docs/blob/f495fabe734bf6a84427eb647ab0996624ef7369/docs/gamma/4.12/agent-management/import/add-an-mcp-registry.md" TargetMode="External"/><Relationship Id="rId9" Type="http://schemas.openxmlformats.org/officeDocument/2006/relationships/hyperlink" Target="https://github.com/gravitee-io/gravitee-platform-docs/blob/f495fabe734bf6a84427eb647ab0996624ef7369/docs/gamma/4.12/agent-management/import/upload-skills.md" TargetMode="External"/><Relationship Id="rId10" Type="http://schemas.openxmlformats.org/officeDocument/2006/relationships/hyperlink" Target="https://github.com/gravitee-io/gravitee-platform-docs/blob/f495fabe734bf6a84427eb647ab0996624ef7369/docs/gamma/4.12/agent-management/import/add-knowledge-source.md" TargetMode="External"/><Relationship Id="rId11" Type="http://schemas.openxmlformats.org/officeDocument/2006/relationships/hyperlink" Target="https://documentation.gravitee.io/platform-overview/gravitee-platform/gravitee-offerings-ce-vs-ee/enterprise-edition-licensing" TargetMode="External"/><Relationship Id="rId12" Type="http://schemas.openxmlformats.org/officeDocument/2006/relationships/hyperlink" Target="https://documentation.gravitee.io/platform-management/gamma-release-notes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521208"/>
            <a:ext cx="502920" cy="5029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70432" y="438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6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ДЛЯ РУКОВОДСТВА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1371600"/>
            <a:ext cx="7360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AI-интеграции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единым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FD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EE 4.12 / Agent Management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242816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Возможности, границы внедрения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измеримый пилот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321040" y="1261872"/>
            <a:ext cx="22860" cy="4443984"/>
          </a:xfrm>
          <a:prstGeom prst="rect">
            <a:avLst/>
          </a:prstGeom>
          <a:solidFill>
            <a:srgbClr val="355066"/>
          </a:solidFill>
          <a:ln w="6350">
            <a:solidFill>
              <a:srgbClr val="355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1517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6B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235440" y="15544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D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235440" y="19293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 что может вызывать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77072" y="2825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6B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235440" y="28620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D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35440" y="323697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проверки применять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7072" y="4133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6B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5440" y="416966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8D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35440" y="4544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измерять и ограничивать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632704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70" b="1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 начать с ограниченного пилота, а не с полной закупки.</a:t>
            </a:r>
            <a:endParaRPr lang="en-US" sz="1770" dirty="0"/>
          </a:p>
        </p:txBody>
      </p:sp>
      <p:sp>
        <p:nvSpPr>
          <p:cNvPr id="18" name="Shape 16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355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S01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вида AI-трафика — общие правила контроля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выступает посредником; модели, инструменты и агенты остаются внешними системами.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S01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61104" y="2039112"/>
            <a:ext cx="3739896" cy="3200400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21031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AI-приложение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3392424" y="2551176"/>
            <a:ext cx="93268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3984" y="2286000"/>
            <a:ext cx="3374136" cy="53035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2386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Proxy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00416" y="2551176"/>
            <a:ext cx="859536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2221992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3416" y="2359152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Языковые модели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74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3392424" y="3529584"/>
            <a:ext cx="93268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43984" y="3264408"/>
            <a:ext cx="3374136" cy="53035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Proxy / Studio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00416" y="3529584"/>
            <a:ext cx="859536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3200400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43416" y="3337560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и MCP-серверы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548640" y="4178808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Агент-координатор</a:t>
            </a:r>
            <a:endParaRPr lang="en-US" sz="1850" dirty="0"/>
          </a:p>
        </p:txBody>
      </p:sp>
      <p:sp>
        <p:nvSpPr>
          <p:cNvPr id="29" name="Shape 27"/>
          <p:cNvSpPr/>
          <p:nvPr/>
        </p:nvSpPr>
        <p:spPr>
          <a:xfrm>
            <a:off x="3392424" y="4507992"/>
            <a:ext cx="93268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43984" y="4242816"/>
            <a:ext cx="3374136" cy="53035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1144" y="4343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Proxy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900416" y="4507992"/>
            <a:ext cx="859536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869680" y="4178808"/>
            <a:ext cx="2788920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43416" y="4315968"/>
            <a:ext cx="2468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AI-агент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502920" y="5532120"/>
            <a:ext cx="11183112" cy="630936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5641848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слой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724912" y="5632704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 · политики обработки · учёт вызовов и потребления</a:t>
            </a:r>
            <a:endParaRPr lang="en-US" sz="15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Proxy: один управляемый вход к моделям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точка входа к поддерживаемым провайдерам и форматам запросов.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S09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2258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2240280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и подписки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86400" y="2203704"/>
            <a:ext cx="6016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потребителей — свои учётные данные; ключи провайдеров хранятся на стороне платформы.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504" y="2999232"/>
            <a:ext cx="1099108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300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328269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и псевдонимы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86400" y="3246120"/>
            <a:ext cx="6016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Управляемый список моделей; переопределение параметров и выбор модели политикой.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" y="4041648"/>
            <a:ext cx="1099108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343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ПОТРЕБЛЕНИЕ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4325112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 токенов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0" y="4288536"/>
            <a:ext cx="6016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 на входные и выходные токены; учёт по моделям и потребителям.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3504" y="5084064"/>
            <a:ext cx="10991088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559552"/>
            <a:ext cx="11183112" cy="630936"/>
          </a:xfrm>
          <a:prstGeom prst="rect">
            <a:avLst/>
          </a:prstGeom>
          <a:solidFill>
            <a:srgbClr val="FAF3E8"/>
          </a:solidFill>
          <a:ln w="6350">
            <a:solidFill>
              <a:srgbClr val="FAF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66928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24912" y="5660136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 проверяется по модели; токенный лимит не является жёстким денежным потолком.</a:t>
            </a:r>
            <a:endParaRPr lang="en-US" sz="15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И КОНТЕКСТ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из существующих активов — набор для агента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протокол, через который агент получает инструменты и контекст.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S06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S21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2487168" cy="24963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323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2121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MCP-серверы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Инструкции и документы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35808" y="3401568"/>
            <a:ext cx="29260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194560"/>
            <a:ext cx="2487168" cy="24963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24323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84448" y="2926080"/>
            <a:ext cx="2121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и tools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и resources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и skills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34456" y="3401568"/>
            <a:ext cx="29260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0216" y="2194560"/>
            <a:ext cx="2487168" cy="2496312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24323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STUDIO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83096" y="2926080"/>
            <a:ext cx="2121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Собираем выбранный набор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MCP Server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33104" y="3401568"/>
            <a:ext cx="292608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98864" y="2194560"/>
            <a:ext cx="2487168" cy="24963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81744" y="24323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81744" y="2926080"/>
            <a:ext cx="21214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только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включённые инструменты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контекст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" y="50109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набора для пилота: узнать статус заявки • найти регламент • прочитать справочник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559552"/>
            <a:ext cx="11183112" cy="630936"/>
          </a:xfrm>
          <a:prstGeom prst="rect">
            <a:avLst/>
          </a:prstGeom>
          <a:solidFill>
            <a:srgbClr val="FAF3E8"/>
          </a:solidFill>
          <a:ln w="6350">
            <a:solidFill>
              <a:srgbClr val="FAF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66928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функции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24912" y="5660136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— инструкции, не запуск кода на Gateway. Knowledge Documents — не готовая RAG-платформа.</a:t>
            </a:r>
            <a:endParaRPr lang="en-US" sz="15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A2A: управляемое взаимодействие самостоятельных агентов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— Agent-to-Agent. Нужен для делегирования задач, а не для обычного вызова инструмента.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054096" cy="1472184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60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АГЕНТ-КООРДИНАТОР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Поручает задачу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840480" y="3054096"/>
            <a:ext cx="621792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2331720"/>
            <a:ext cx="3054096" cy="1472184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560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A2A PROXY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Доступ, политики, наблюдение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0" y="3054096"/>
            <a:ext cx="621792" cy="0"/>
          </a:xfrm>
          <a:prstGeom prst="line">
            <a:avLst/>
          </a:prstGeom>
          <a:noFill/>
          <a:ln w="21590">
            <a:solidFill>
              <a:srgbClr val="00877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2331720"/>
            <a:ext cx="3054096" cy="1472184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560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СПЕЦИАЛИЗИРОВАННЫЙ АГЕНТ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3017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Обрабатывает задачу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58952" y="4297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Card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017520" y="4279392"/>
            <a:ext cx="8394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возможностей агента публикуется через Gateway.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агенты находят управляемую точку обращения.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02920" y="5559552"/>
            <a:ext cx="11183112" cy="630936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566928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24912" y="5660136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этап после LLM и MCP, когда появятся реальные межагентные сценарии.</a:t>
            </a:r>
            <a:endParaRPr lang="en-US" sz="15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 ЭФФЕКТ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Ограничивать действия, а не только доверять промпту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 выполняются на пути вызова; набор правил зависит от сценария и лицензии.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S07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60273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ВЫЗЫВАЕТ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633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потребителя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" y="3383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доступа и подписки.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 — через интеграцию с Access Management.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Идентичность и разрешения — разные задачи.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288536" y="2103120"/>
            <a:ext cx="360273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8536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РАЗРЕШЕНО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9704" y="2633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Сужаем набор действий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9704" y="3383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Studio — только нужные инструменты.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FGA — детальные права через Authorization Management.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9704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читать заявку, но не удалять.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8074152" y="2103120"/>
            <a:ext cx="3602736" cy="327355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4152" y="2103120"/>
            <a:ext cx="41148" cy="3273552"/>
          </a:xfrm>
          <a:prstGeom prst="rect">
            <a:avLst/>
          </a:prstGeom>
          <a:solidFill>
            <a:srgbClr val="00877E"/>
          </a:solidFill>
          <a:ln w="6350">
            <a:solidFill>
              <a:srgbClr val="0087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ДАННЫЕ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75320" y="2633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Применяем AI-политики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75320" y="3383280"/>
            <a:ext cx="3200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Rails — log или block.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Filtering — маскирование найденных сущностей.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проверяется на своих данных.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02920" y="5541264"/>
            <a:ext cx="11183112" cy="630936"/>
          </a:xfrm>
          <a:prstGeom prst="rect">
            <a:avLst/>
          </a:prstGeom>
          <a:solidFill>
            <a:srgbClr val="E8F4F1"/>
          </a:solidFill>
          <a:ln w="6350">
            <a:solidFill>
              <a:srgbClr val="E8F4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565099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контроля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24912" y="5641848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не заменяет права backend и не контролирует вызовы, которые обходят его.</a:t>
            </a:r>
            <a:endParaRPr lang="en-US" sz="15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НАБЛЮДАЕМОСТЬ И ЭКОНОМИКА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и расходы становятся измеримыми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основа управления и расчёта эффекта, а не готовое доказательство окупаемости.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S09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1183112" cy="694944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854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 что использует?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3749040" y="22128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Панели LLM / MCP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6775704" y="2194560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Модель, провайдер, инструмент, объём вызовов</a:t>
            </a:r>
            <a:endParaRPr lang="en-US" sz="1630" dirty="0"/>
          </a:p>
        </p:txBody>
      </p:sp>
      <p:sp>
        <p:nvSpPr>
          <p:cNvPr id="13" name="Shape 11"/>
          <p:cNvSpPr/>
          <p:nvPr/>
        </p:nvSpPr>
        <p:spPr>
          <a:xfrm>
            <a:off x="502920" y="2862072"/>
            <a:ext cx="1118311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9008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задержка или ошибка?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3749040" y="301752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 и OpenTelemetry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6775704" y="2999232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 вызова; Trace Explorer — в рамках прокси</a:t>
            </a:r>
            <a:endParaRPr lang="en-US" sz="1630" dirty="0"/>
          </a:p>
        </p:txBody>
      </p:sp>
      <p:sp>
        <p:nvSpPr>
          <p:cNvPr id="17" name="Shape 15"/>
          <p:cNvSpPr/>
          <p:nvPr/>
        </p:nvSpPr>
        <p:spPr>
          <a:xfrm>
            <a:off x="502920" y="3666744"/>
            <a:ext cx="11183112" cy="694944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9476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потреблено?</a:t>
            </a:r>
            <a:endParaRPr lang="en-US" sz="1720" dirty="0"/>
          </a:p>
        </p:txBody>
      </p:sp>
      <p:sp>
        <p:nvSpPr>
          <p:cNvPr id="19" name="Text 17"/>
          <p:cNvSpPr/>
          <p:nvPr/>
        </p:nvSpPr>
        <p:spPr>
          <a:xfrm>
            <a:off x="3749040" y="382219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Токены и расчётная стоимость</a:t>
            </a:r>
            <a:endParaRPr lang="en-US" sz="1720" dirty="0"/>
          </a:p>
        </p:txBody>
      </p:sp>
      <p:sp>
        <p:nvSpPr>
          <p:cNvPr id="20" name="Text 18"/>
          <p:cNvSpPr/>
          <p:nvPr/>
        </p:nvSpPr>
        <p:spPr>
          <a:xfrm>
            <a:off x="6775704" y="3803904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токенов × настроенная цена модели</a:t>
            </a:r>
            <a:endParaRPr lang="en-US" sz="1630" dirty="0"/>
          </a:p>
        </p:txBody>
      </p:sp>
      <p:sp>
        <p:nvSpPr>
          <p:cNvPr id="21" name="Shape 19"/>
          <p:cNvSpPr/>
          <p:nvPr/>
        </p:nvSpPr>
        <p:spPr>
          <a:xfrm>
            <a:off x="502920" y="4471416"/>
            <a:ext cx="1118311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9943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возможна оптимизация?</a:t>
            </a:r>
            <a:endParaRPr lang="en-US" sz="1720" dirty="0"/>
          </a:p>
        </p:txBody>
      </p:sp>
      <p:sp>
        <p:nvSpPr>
          <p:cNvPr id="23" name="Text 21"/>
          <p:cNvSpPr/>
          <p:nvPr/>
        </p:nvSpPr>
        <p:spPr>
          <a:xfrm>
            <a:off x="3749040" y="46268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Лимиты, выбор модели, кеш</a:t>
            </a:r>
            <a:endParaRPr lang="en-US" sz="1720" dirty="0"/>
          </a:p>
        </p:txBody>
      </p:sp>
      <p:sp>
        <p:nvSpPr>
          <p:cNvPr id="24" name="Text 22"/>
          <p:cNvSpPr/>
          <p:nvPr/>
        </p:nvSpPr>
        <p:spPr>
          <a:xfrm>
            <a:off x="6775704" y="4608576"/>
            <a:ext cx="4690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3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на пилоте: качество, задержки и затраты</a:t>
            </a:r>
            <a:endParaRPr lang="en-US" sz="1630" dirty="0"/>
          </a:p>
        </p:txBody>
      </p:sp>
      <p:sp>
        <p:nvSpPr>
          <p:cNvPr id="25" name="Shape 23"/>
          <p:cNvSpPr/>
          <p:nvPr/>
        </p:nvSpPr>
        <p:spPr>
          <a:xfrm>
            <a:off x="502920" y="5559552"/>
            <a:ext cx="11183112" cy="630936"/>
          </a:xfrm>
          <a:prstGeom prst="rect">
            <a:avLst/>
          </a:prstGeom>
          <a:solidFill>
            <a:srgbClr val="FAF3E8"/>
          </a:solidFill>
          <a:ln w="6350">
            <a:solidFill>
              <a:srgbClr val="FAF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669280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24912" y="5660136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— оценка по настроенным ценам. Трассировка требует отдельной настройки.</a:t>
            </a:r>
            <a:endParaRPr lang="en-US" sz="15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ВНЕДРЕНИЯ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решения согласуется до начала внедрения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отчёта шире классического APIM: часть функций относится к Agent Management в Gamma.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S15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S16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S17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11183112" cy="914400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2494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/ Agent Management</a:t>
            </a:r>
            <a:endParaRPr lang="en-US" sz="1880" dirty="0"/>
          </a:p>
        </p:txBody>
      </p:sp>
      <p:sp>
        <p:nvSpPr>
          <p:cNvPr id="12" name="Text 10"/>
          <p:cNvSpPr/>
          <p:nvPr/>
        </p:nvSpPr>
        <p:spPr>
          <a:xfrm>
            <a:off x="5166360" y="2221992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MCP, A2A; Catalog и Studio.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66360" y="2587752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patch, UI и плагины фиксируем в составе пилота.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1118311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9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4440" y="3328416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модули</a:t>
            </a:r>
            <a:endParaRPr lang="en-US" sz="1880" dirty="0"/>
          </a:p>
        </p:txBody>
      </p:sp>
      <p:sp>
        <p:nvSpPr>
          <p:cNvPr id="17" name="Text 15"/>
          <p:cNvSpPr/>
          <p:nvPr/>
        </p:nvSpPr>
        <p:spPr>
          <a:xfrm>
            <a:off x="5166360" y="3291840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— Agent Identity; Authorization — FGA.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66360" y="3657600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устройства сотрудников; Event Stream — Kafka Tools.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02920" y="4215384"/>
            <a:ext cx="11183112" cy="914400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4389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439826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8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 и лицензия</a:t>
            </a:r>
            <a:endParaRPr lang="en-US" sz="1880" dirty="0"/>
          </a:p>
        </p:txBody>
      </p:sp>
      <p:sp>
        <p:nvSpPr>
          <p:cNvPr id="22" name="Text 20"/>
          <p:cNvSpPr/>
          <p:nvPr/>
        </p:nvSpPr>
        <p:spPr>
          <a:xfrm>
            <a:off x="5166360" y="4361688"/>
            <a:ext cx="6236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AI-пакеты, ресурсы и маршрут данных — отдельно.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66360" y="4727448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возможен; ONNX требует Debian-based Gateway.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502920" y="5541264"/>
            <a:ext cx="11183112" cy="630936"/>
          </a:xfrm>
          <a:prstGeom prst="rect">
            <a:avLst/>
          </a:prstGeom>
          <a:solidFill>
            <a:srgbClr val="FAF3E8"/>
          </a:solidFill>
          <a:ln w="6350">
            <a:solidFill>
              <a:srgbClr val="FAF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565099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обещаем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24912" y="5641848"/>
            <a:ext cx="8732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1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каталог в APIM 4.12.17, гарантированную экономию или готовые roadmap-функции.</a:t>
            </a:r>
            <a:endParaRPr lang="en-US" sz="15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6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пилота. Масштабировать по результату.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157276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Предлагаемый объём — небольшой, изолированный и измеримый.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231136"/>
            <a:ext cx="3602736" cy="1728216"/>
          </a:xfrm>
          <a:prstGeom prst="rect">
            <a:avLst/>
          </a:prstGeom>
          <a:solidFill>
            <a:srgbClr val="1C3A52"/>
          </a:solidFill>
          <a:ln w="6350">
            <a:solidFill>
              <a:srgbClr val="1C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4140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LLM Proxy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331927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команда-потребитель;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поддерживаемые модели.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88536" y="2231136"/>
            <a:ext cx="3602736" cy="1728216"/>
          </a:xfrm>
          <a:prstGeom prst="rect">
            <a:avLst/>
          </a:prstGeom>
          <a:solidFill>
            <a:srgbClr val="1C3A52"/>
          </a:solidFill>
          <a:ln w="6350">
            <a:solidFill>
              <a:srgbClr val="1C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140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API Tools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80560" y="331927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Composite MCP Server;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операции чтения.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74152" y="2231136"/>
            <a:ext cx="3602736" cy="1728216"/>
          </a:xfrm>
          <a:prstGeom prst="rect">
            <a:avLst/>
          </a:prstGeom>
          <a:solidFill>
            <a:srgbClr val="1C3A52"/>
          </a:solidFill>
          <a:ln w="6350">
            <a:solidFill>
              <a:srgbClr val="1C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241401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66176" y="274320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Тестовый контур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66176" y="3319272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Обезличенные данные;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AE5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ограниченные полномочия.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" y="431596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DC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РЕШЕНИЯ О РАСШИРЕНИИ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1208" y="46451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и блокировки  ·  задержки и ошибки  ·  полнота учёта токенов  ·  трудоёмкость интеграции</a:t>
            </a:r>
            <a:endParaRPr lang="en-US" sz="2050" dirty="0"/>
          </a:p>
        </p:txBody>
      </p:sp>
      <p:sp>
        <p:nvSpPr>
          <p:cNvPr id="19" name="Shape 17"/>
          <p:cNvSpPr/>
          <p:nvPr/>
        </p:nvSpPr>
        <p:spPr>
          <a:xfrm>
            <a:off x="512064" y="5550408"/>
            <a:ext cx="11164824" cy="0"/>
          </a:xfrm>
          <a:prstGeom prst="line">
            <a:avLst/>
          </a:prstGeom>
          <a:noFill/>
          <a:ln w="12700">
            <a:solidFill>
              <a:srgbClr val="3F5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5751576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владельцев пилота: API-платформа, AI-команда и информационная безопасность.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355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 </a:t>
            </a:r>
            <a:pPr algn="r" indent="0" marL="0">
              <a:buNone/>
            </a:pPr>
            <a:r>
              <a:rPr lang="en-US" sz="850" u="sng" dirty="0">
                <a:solidFill>
                  <a:srgbClr val="B8E0D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7C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· ДЛЯ ВОПРОСОВ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следует обещать по одному номеру «4.12»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18.09.2026. Точечная инструкция имеет приоритет над общим маркетинговым описанием.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S22  </a:t>
            </a:r>
            <a:pPr algn="r" indent="0" marL="0">
              <a:buNone/>
            </a:pPr>
            <a:r>
              <a:rPr lang="en-US" sz="850" u="sng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11183112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7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и Gamma</a:t>
            </a:r>
            <a:endParaRPr lang="en-US" sz="1670" dirty="0"/>
          </a:p>
        </p:txBody>
      </p:sp>
      <p:sp>
        <p:nvSpPr>
          <p:cNvPr id="11" name="Text 9"/>
          <p:cNvSpPr/>
          <p:nvPr/>
        </p:nvSpPr>
        <p:spPr>
          <a:xfrm>
            <a:off x="3246120" y="2103120"/>
            <a:ext cx="8211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/ Studio в отчёте описаны через Gamma. Для внедрения фиксируются интерфейс, компоненты и лицензия.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502920" y="2779776"/>
            <a:ext cx="11183112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7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Patch-релиз .17</a:t>
            </a:r>
            <a:endParaRPr lang="en-US" sz="1670" dirty="0"/>
          </a:p>
        </p:txBody>
      </p:sp>
      <p:sp>
        <p:nvSpPr>
          <p:cNvPr id="14" name="Text 12"/>
          <p:cNvSpPr/>
          <p:nvPr/>
        </p:nvSpPr>
        <p:spPr>
          <a:xfrm>
            <a:off x="3246120" y="2889504"/>
            <a:ext cx="8211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Gamma: CORS page для LLM — с .18; Models page — с .19. Не включать эти интерфейсы в обещание для .17.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11183112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7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 трассы</a:t>
            </a:r>
            <a:endParaRPr lang="en-US" sz="1670" dirty="0"/>
          </a:p>
        </p:txBody>
      </p:sp>
      <p:sp>
        <p:nvSpPr>
          <p:cNvPr id="17" name="Text 15"/>
          <p:cNvSpPr/>
          <p:nvPr/>
        </p:nvSpPr>
        <p:spPr>
          <a:xfrm>
            <a:off x="3246120" y="3675888"/>
            <a:ext cx="8211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имеет ограничения для streaming; Trace Explorer показывает выбранный прокси. Это не абсолютная защита и не автоматически сквозная трасса.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02920" y="4352544"/>
            <a:ext cx="11183112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7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исходного отчёта</a:t>
            </a:r>
            <a:endParaRPr lang="en-US" sz="1670" dirty="0"/>
          </a:p>
        </p:txBody>
      </p:sp>
      <p:sp>
        <p:nvSpPr>
          <p:cNvPr id="20" name="Text 18"/>
          <p:cNvSpPr/>
          <p:nvPr/>
        </p:nvSpPr>
        <p:spPr>
          <a:xfrm>
            <a:off x="3246120" y="4462272"/>
            <a:ext cx="8211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bulk import — Coming soon. Guardian / HITL, compliance scoring, ROI и Performance Targets не входят в обещаемый объём пилота.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02920" y="5138928"/>
            <a:ext cx="11183112" cy="667512"/>
          </a:xfrm>
          <a:prstGeom prst="rect">
            <a:avLst/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5285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70" b="1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и Skills</a:t>
            </a:r>
            <a:endParaRPr lang="en-US" sz="1670" dirty="0"/>
          </a:p>
        </p:txBody>
      </p:sp>
      <p:sp>
        <p:nvSpPr>
          <p:cNvPr id="23" name="Text 21"/>
          <p:cNvSpPr/>
          <p:nvPr/>
        </p:nvSpPr>
        <p:spPr>
          <a:xfrm>
            <a:off x="3246120" y="5248656"/>
            <a:ext cx="8211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83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инструкции — управляемый контекст. Не обещаются готовый RAG и исполнение произвольного кода Skills на Gateway.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· ИСТОЧНИКИ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источники · 1/2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кликабельны. Полные URL и пояснения приведены в заметках к каждому слайду.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</a:t>
            </a:r>
            <a:endParaRPr lang="en-US" sz="113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170432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Management: обзор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MCP и A2A; границы продукта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</a:t>
            </a:r>
            <a:endParaRPr lang="en-US" sz="113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170432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Создание LLM Proxy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1170432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Модели, aliases, plans; Gamma 4.12.17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</a:t>
            </a:r>
            <a:endParaRPr lang="en-US" sz="113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170432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Настройка LLM Proxy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1170432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моделей; версии .18 и .19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</a:t>
            </a:r>
            <a:endParaRPr lang="en-US" sz="113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1170432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Tools</a:t>
            </a:r>
            <a:endParaRPr lang="en-US" sz="1410" dirty="0"/>
          </a:p>
        </p:txBody>
      </p:sp>
      <p:sp>
        <p:nvSpPr>
          <p:cNvPr id="19" name="Text 17"/>
          <p:cNvSpPr/>
          <p:nvPr/>
        </p:nvSpPr>
        <p:spPr>
          <a:xfrm>
            <a:off x="1170432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как инструменты для агентов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S05</a:t>
            </a:r>
            <a:endParaRPr lang="en-US" sz="113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1170432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Studio</a:t>
            </a:r>
            <a:endParaRPr lang="en-US" sz="1410" dirty="0"/>
          </a:p>
        </p:txBody>
      </p:sp>
      <p:sp>
        <p:nvSpPr>
          <p:cNvPr id="22" name="Text 20"/>
          <p:cNvSpPr/>
          <p:nvPr/>
        </p:nvSpPr>
        <p:spPr>
          <a:xfrm>
            <a:off x="1170432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Composite MCP Server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48640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</a:t>
            </a:r>
            <a:endParaRPr lang="en-US" sz="1130" dirty="0"/>
          </a:p>
        </p:txBody>
      </p:sp>
      <p:sp>
        <p:nvSpPr>
          <p:cNvPr id="24" name="Text 22">
            <a:hlinkClick r:id="rId6" tooltip=""/>
          </p:cNvPr>
          <p:cNvSpPr/>
          <p:nvPr/>
        </p:nvSpPr>
        <p:spPr>
          <a:xfrm>
            <a:off x="1170432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Catalog / Import</a:t>
            </a:r>
            <a:endParaRPr lang="en-US" sz="1410" dirty="0"/>
          </a:p>
        </p:txBody>
      </p:sp>
      <p:sp>
        <p:nvSpPr>
          <p:cNvPr id="25" name="Text 23"/>
          <p:cNvSpPr/>
          <p:nvPr/>
        </p:nvSpPr>
        <p:spPr>
          <a:xfrm>
            <a:off x="1170432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Модели, tools, prompts, resources, skills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6236208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</a:t>
            </a:r>
            <a:endParaRPr lang="en-US" sz="1130" dirty="0"/>
          </a:p>
        </p:txBody>
      </p:sp>
      <p:sp>
        <p:nvSpPr>
          <p:cNvPr id="27" name="Text 25">
            <a:hlinkClick r:id="rId7" tooltip=""/>
          </p:cNvPr>
          <p:cNvSpPr/>
          <p:nvPr/>
        </p:nvSpPr>
        <p:spPr>
          <a:xfrm>
            <a:off x="6858000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 Guard Rails</a:t>
            </a:r>
            <a:endParaRPr lang="en-US" sz="1410" dirty="0"/>
          </a:p>
        </p:txBody>
      </p:sp>
      <p:sp>
        <p:nvSpPr>
          <p:cNvPr id="28" name="Text 26"/>
          <p:cNvSpPr/>
          <p:nvPr/>
        </p:nvSpPr>
        <p:spPr>
          <a:xfrm>
            <a:off x="6858000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Log/block, пороги и ограничения моделей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6236208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</a:t>
            </a:r>
            <a:endParaRPr lang="en-US" sz="1130" dirty="0"/>
          </a:p>
        </p:txBody>
      </p:sp>
      <p:sp>
        <p:nvSpPr>
          <p:cNvPr id="30" name="Text 28">
            <a:hlinkClick r:id="rId8" tooltip=""/>
          </p:cNvPr>
          <p:cNvSpPr/>
          <p:nvPr/>
        </p:nvSpPr>
        <p:spPr>
          <a:xfrm>
            <a:off x="6858000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PII Filtering</a:t>
            </a:r>
            <a:endParaRPr lang="en-US" sz="1410" dirty="0"/>
          </a:p>
        </p:txBody>
      </p:sp>
      <p:sp>
        <p:nvSpPr>
          <p:cNvPr id="31" name="Text 29"/>
          <p:cNvSpPr/>
          <p:nvPr/>
        </p:nvSpPr>
        <p:spPr>
          <a:xfrm>
            <a:off x="6858000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 PII, streaming и EE pack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236208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</a:t>
            </a:r>
            <a:endParaRPr lang="en-US" sz="1130" dirty="0"/>
          </a:p>
        </p:txBody>
      </p:sp>
      <p:sp>
        <p:nvSpPr>
          <p:cNvPr id="33" name="Text 31">
            <a:hlinkClick r:id="rId9" tooltip=""/>
          </p:cNvPr>
          <p:cNvSpPr/>
          <p:nvPr/>
        </p:nvSpPr>
        <p:spPr>
          <a:xfrm>
            <a:off x="6858000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 Rate Limit</a:t>
            </a:r>
            <a:endParaRPr lang="en-US" sz="1410" dirty="0"/>
          </a:p>
        </p:txBody>
      </p:sp>
      <p:sp>
        <p:nvSpPr>
          <p:cNvPr id="34" name="Text 32"/>
          <p:cNvSpPr/>
          <p:nvPr/>
        </p:nvSpPr>
        <p:spPr>
          <a:xfrm>
            <a:off x="6858000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 tokens; стратегии ограничения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236208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1130" dirty="0"/>
          </a:p>
        </p:txBody>
      </p:sp>
      <p:sp>
        <p:nvSpPr>
          <p:cNvPr id="36" name="Text 34">
            <a:hlinkClick r:id="rId10" tooltip=""/>
          </p:cNvPr>
          <p:cNvSpPr/>
          <p:nvPr/>
        </p:nvSpPr>
        <p:spPr>
          <a:xfrm>
            <a:off x="6858000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Semantic Caching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6858000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Embedding, vector store, разделение кеша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236208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</a:t>
            </a:r>
            <a:endParaRPr lang="en-US" sz="1130" dirty="0"/>
          </a:p>
        </p:txBody>
      </p:sp>
      <p:sp>
        <p:nvSpPr>
          <p:cNvPr id="39" name="Text 37">
            <a:hlinkClick r:id="rId11" tooltip=""/>
          </p:cNvPr>
          <p:cNvSpPr/>
          <p:nvPr/>
        </p:nvSpPr>
        <p:spPr>
          <a:xfrm>
            <a:off x="6858000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 Dashboard</a:t>
            </a:r>
            <a:endParaRPr lang="en-US" sz="1410" dirty="0"/>
          </a:p>
        </p:txBody>
      </p:sp>
      <p:sp>
        <p:nvSpPr>
          <p:cNvPr id="40" name="Text 38"/>
          <p:cNvSpPr/>
          <p:nvPr/>
        </p:nvSpPr>
        <p:spPr>
          <a:xfrm>
            <a:off x="6858000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Метрики, токены и расчётная стоимость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6236208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</a:t>
            </a:r>
            <a:endParaRPr lang="en-US" sz="1130" dirty="0"/>
          </a:p>
        </p:txBody>
      </p:sp>
      <p:sp>
        <p:nvSpPr>
          <p:cNvPr id="42" name="Text 40">
            <a:hlinkClick r:id="rId12" tooltip=""/>
          </p:cNvPr>
          <p:cNvSpPr/>
          <p:nvPr/>
        </p:nvSpPr>
        <p:spPr>
          <a:xfrm>
            <a:off x="6858000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MCP monitoring</a:t>
            </a:r>
            <a:endParaRPr lang="en-US" sz="1410" dirty="0"/>
          </a:p>
        </p:txBody>
      </p:sp>
      <p:sp>
        <p:nvSpPr>
          <p:cNvPr id="43" name="Text 41"/>
          <p:cNvSpPr/>
          <p:nvPr/>
        </p:nvSpPr>
        <p:spPr>
          <a:xfrm>
            <a:off x="6858000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инструментов, ошибки, задержки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548640" y="5788152"/>
            <a:ext cx="11091672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25312"/>
            <a:ext cx="11100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каталог AI-функций от 17.09.2026 и его сокращённая версия (5 стр.). Проверка первичных источников: 18.09.2026.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· ИСТОЧНИКИ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1155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источники · 2/2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490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кликабельны. Полные URL и пояснения приведены в заметках к каждому слайду.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6391656"/>
            <a:ext cx="11183112" cy="0"/>
          </a:xfrm>
          <a:prstGeom prst="line">
            <a:avLst/>
          </a:prstGeom>
          <a:noFill/>
          <a:ln w="8890">
            <a:solidFill>
              <a:srgbClr val="D8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013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GRAVITEE · AI &amp; AGENT MANAGEMENT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607040" y="64922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</a:t>
            </a:r>
            <a:endParaRPr lang="en-US" sz="113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1170432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Explorer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OpenTelemetry; область одного прокси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</a:t>
            </a:r>
            <a:endParaRPr lang="en-US" sz="113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1170432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A2A Proxy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1170432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Card и проксирование вызовов агента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</a:t>
            </a:r>
            <a:endParaRPr lang="en-US" sz="113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1170432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Identity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1170432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Access Management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1130" dirty="0"/>
          </a:p>
        </p:txBody>
      </p:sp>
      <p:sp>
        <p:nvSpPr>
          <p:cNvPr id="18" name="Text 16">
            <a:hlinkClick r:id="rId4" tooltip=""/>
          </p:cNvPr>
          <p:cNvSpPr/>
          <p:nvPr/>
        </p:nvSpPr>
        <p:spPr>
          <a:xfrm>
            <a:off x="1170432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Fine-Grained Authorization</a:t>
            </a:r>
            <a:endParaRPr lang="en-US" sz="1410" dirty="0"/>
          </a:p>
        </p:txBody>
      </p:sp>
      <p:sp>
        <p:nvSpPr>
          <p:cNvPr id="19" name="Text 17"/>
          <p:cNvSpPr/>
          <p:nvPr/>
        </p:nvSpPr>
        <p:spPr>
          <a:xfrm>
            <a:off x="1170432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Management; доступ к tools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</a:t>
            </a:r>
            <a:endParaRPr lang="en-US" sz="1130" dirty="0"/>
          </a:p>
        </p:txBody>
      </p:sp>
      <p:sp>
        <p:nvSpPr>
          <p:cNvPr id="21" name="Text 19">
            <a:hlinkClick r:id="rId5" tooltip=""/>
          </p:cNvPr>
          <p:cNvSpPr/>
          <p:nvPr/>
        </p:nvSpPr>
        <p:spPr>
          <a:xfrm>
            <a:off x="1170432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 / Shadow AI</a:t>
            </a:r>
            <a:endParaRPr lang="en-US" sz="1410" dirty="0"/>
          </a:p>
        </p:txBody>
      </p:sp>
      <p:sp>
        <p:nvSpPr>
          <p:cNvPr id="22" name="Text 20"/>
          <p:cNvSpPr/>
          <p:nvPr/>
        </p:nvSpPr>
        <p:spPr>
          <a:xfrm>
            <a:off x="1170432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Daemon и трафик на устройствах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48640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</a:t>
            </a:r>
            <a:endParaRPr lang="en-US" sz="1130" dirty="0"/>
          </a:p>
        </p:txBody>
      </p:sp>
      <p:sp>
        <p:nvSpPr>
          <p:cNvPr id="24" name="Text 22">
            <a:hlinkClick r:id="rId6" tooltip=""/>
          </p:cNvPr>
          <p:cNvSpPr/>
          <p:nvPr/>
        </p:nvSpPr>
        <p:spPr>
          <a:xfrm>
            <a:off x="1170432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resources / ONNX</a:t>
            </a:r>
            <a:endParaRPr lang="en-US" sz="1410" dirty="0"/>
          </a:p>
        </p:txBody>
      </p:sp>
      <p:sp>
        <p:nvSpPr>
          <p:cNvPr id="25" name="Text 23"/>
          <p:cNvSpPr/>
          <p:nvPr/>
        </p:nvSpPr>
        <p:spPr>
          <a:xfrm>
            <a:off x="1170432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моделей; Debian-based Gateway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6236208" y="20756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</a:t>
            </a:r>
            <a:endParaRPr lang="en-US" sz="1130" dirty="0"/>
          </a:p>
        </p:txBody>
      </p:sp>
      <p:sp>
        <p:nvSpPr>
          <p:cNvPr id="27" name="Text 25">
            <a:hlinkClick r:id="rId7" tooltip=""/>
          </p:cNvPr>
          <p:cNvSpPr/>
          <p:nvPr/>
        </p:nvSpPr>
        <p:spPr>
          <a:xfrm>
            <a:off x="6858000" y="20756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Модели развёртывания Gamma</a:t>
            </a:r>
            <a:endParaRPr lang="en-US" sz="1410" dirty="0"/>
          </a:p>
        </p:txBody>
      </p:sp>
      <p:sp>
        <p:nvSpPr>
          <p:cNvPr id="28" name="Text 26"/>
          <p:cNvSpPr/>
          <p:nvPr/>
        </p:nvSpPr>
        <p:spPr>
          <a:xfrm>
            <a:off x="6858000" y="23500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или hybrid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6236208" y="267004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</a:t>
            </a:r>
            <a:endParaRPr lang="en-US" sz="1130" dirty="0"/>
          </a:p>
        </p:txBody>
      </p:sp>
      <p:sp>
        <p:nvSpPr>
          <p:cNvPr id="30" name="Text 28">
            <a:hlinkClick r:id="rId8" tooltip=""/>
          </p:cNvPr>
          <p:cNvSpPr/>
          <p:nvPr/>
        </p:nvSpPr>
        <p:spPr>
          <a:xfrm>
            <a:off x="6858000" y="267004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MCP Registry</a:t>
            </a:r>
            <a:endParaRPr lang="en-US" sz="1410" dirty="0"/>
          </a:p>
        </p:txBody>
      </p:sp>
      <p:sp>
        <p:nvSpPr>
          <p:cNvPr id="31" name="Text 29"/>
          <p:cNvSpPr/>
          <p:nvPr/>
        </p:nvSpPr>
        <p:spPr>
          <a:xfrm>
            <a:off x="6858000" y="294436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Точечная документация: Coming soon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6236208" y="326440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</a:t>
            </a:r>
            <a:endParaRPr lang="en-US" sz="1130" dirty="0"/>
          </a:p>
        </p:txBody>
      </p:sp>
      <p:sp>
        <p:nvSpPr>
          <p:cNvPr id="33" name="Text 31">
            <a:hlinkClick r:id="rId9" tooltip=""/>
          </p:cNvPr>
          <p:cNvSpPr/>
          <p:nvPr/>
        </p:nvSpPr>
        <p:spPr>
          <a:xfrm>
            <a:off x="6858000" y="326440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Skills</a:t>
            </a:r>
            <a:endParaRPr lang="en-US" sz="1410" dirty="0"/>
          </a:p>
        </p:txBody>
      </p:sp>
      <p:sp>
        <p:nvSpPr>
          <p:cNvPr id="34" name="Text 32"/>
          <p:cNvSpPr/>
          <p:nvPr/>
        </p:nvSpPr>
        <p:spPr>
          <a:xfrm>
            <a:off x="6858000" y="35387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Пакеты инструкций как MCP resources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236208" y="385876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</a:t>
            </a:r>
            <a:endParaRPr lang="en-US" sz="1130" dirty="0"/>
          </a:p>
        </p:txBody>
      </p:sp>
      <p:sp>
        <p:nvSpPr>
          <p:cNvPr id="36" name="Text 34">
            <a:hlinkClick r:id="rId10" tooltip=""/>
          </p:cNvPr>
          <p:cNvSpPr/>
          <p:nvPr/>
        </p:nvSpPr>
        <p:spPr>
          <a:xfrm>
            <a:off x="6858000" y="38587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Knowledge Sources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6858000" y="413308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Documents; прочие families — future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236208" y="445312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</a:t>
            </a:r>
            <a:endParaRPr lang="en-US" sz="1130" dirty="0"/>
          </a:p>
        </p:txBody>
      </p:sp>
      <p:sp>
        <p:nvSpPr>
          <p:cNvPr id="39" name="Text 37">
            <a:hlinkClick r:id="rId11" tooltip=""/>
          </p:cNvPr>
          <p:cNvSpPr/>
          <p:nvPr/>
        </p:nvSpPr>
        <p:spPr>
          <a:xfrm>
            <a:off x="6858000" y="445312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Edition Licensing</a:t>
            </a:r>
            <a:endParaRPr lang="en-US" sz="1410" dirty="0"/>
          </a:p>
        </p:txBody>
      </p:sp>
      <p:sp>
        <p:nvSpPr>
          <p:cNvPr id="40" name="Text 38"/>
          <p:cNvSpPr/>
          <p:nvPr/>
        </p:nvSpPr>
        <p:spPr>
          <a:xfrm>
            <a:off x="6858000" y="47274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EE требуется действующая лицензия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6236208" y="5047488"/>
            <a:ext cx="48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008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</a:t>
            </a:r>
            <a:endParaRPr lang="en-US" sz="1130" dirty="0"/>
          </a:p>
        </p:txBody>
      </p:sp>
      <p:sp>
        <p:nvSpPr>
          <p:cNvPr id="42" name="Text 40">
            <a:hlinkClick r:id="rId12" tooltip=""/>
          </p:cNvPr>
          <p:cNvSpPr/>
          <p:nvPr/>
        </p:nvSpPr>
        <p:spPr>
          <a:xfrm>
            <a:off x="6858000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10" b="1" u="sng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Gamma Release Notes</a:t>
            </a:r>
            <a:endParaRPr lang="en-US" sz="1410" dirty="0"/>
          </a:p>
        </p:txBody>
      </p:sp>
      <p:sp>
        <p:nvSpPr>
          <p:cNvPr id="43" name="Text 41"/>
          <p:cNvSpPr/>
          <p:nvPr/>
        </p:nvSpPr>
        <p:spPr>
          <a:xfrm>
            <a:off x="6858000" y="532180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Продуктовые модули; не матрица прав .17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548640" y="5788152"/>
            <a:ext cx="11091672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25312"/>
            <a:ext cx="11100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6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каталог AI-функций от 17.09.2026 и его сокращённая версия (5 стр.). Проверка первичных источников: 18.09.2026.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AI-интеграции под единым управлением — 7–10 минут</dc:title>
  <dc:subject>Gravitee EE 4.12 / Agent Management. Расширенная версия для руководства.</dc:subject>
  <dc:creator/>
  <cp:lastModifiedBy/>
  <cp:revision>1</cp:revision>
  <dcterms:created xsi:type="dcterms:W3CDTF">2026-09-18T11:26:34Z</dcterms:created>
  <dcterms:modified xsi:type="dcterms:W3CDTF">2026-09-18T11:26:34Z</dcterms:modified>
</cp:coreProperties>
</file>